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86" r:id="rId3"/>
    <p:sldId id="285" r:id="rId4"/>
    <p:sldId id="302" r:id="rId27"/>
    <p:sldId id="258" r:id="rId5"/>
    <p:sldId id="282" r:id="rId6"/>
    <p:sldId id="299" r:id="rId7"/>
    <p:sldId id="288" r:id="rId8"/>
    <p:sldId id="300" r:id="rId9"/>
    <p:sldId id="289" r:id="rId10"/>
    <p:sldId id="290" r:id="rId11"/>
    <p:sldId id="291" r:id="rId12"/>
    <p:sldId id="292" r:id="rId13"/>
    <p:sldId id="293" r:id="rId14"/>
    <p:sldId id="294" r:id="rId15"/>
    <p:sldId id="295" r:id="rId16"/>
    <p:sldId id="298" r:id="rId17"/>
    <p:sldId id="296" r:id="rId18"/>
    <p:sldId id="297" r:id="rId19"/>
    <p:sldId id="301" r:id="rId20"/>
  </p:sldIdLst>
  <p:sldSz cx="12192000" cy="6858000"/>
  <p:notesSz cx="6858000" cy="9144000"/>
  <p:defaultText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392A2-7B33-184D-A59F-9654CBA47989}" v="156" dt="2026-05-12T22:00:45.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46"/>
    <p:restoredTop sz="94631"/>
  </p:normalViewPr>
  <p:slideViewPr>
    <p:cSldViewPr snapToGrid="0">
      <p:cViewPr>
        <p:scale>
          <a:sx n="83" d="100"/>
          <a:sy n="83" d="100"/>
        </p:scale>
        <p:origin x="1400" y="59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slide" Target="slides/slide2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A998D2-FB5E-004F-A938-FC34AD1B4FD6}" type="datetimeFigureOut">
              <a:rPr lang="en-EG" smtClean="0"/>
              <a:t>12/05/2026</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FA46CA-7C1D-F448-A421-13E24C8D12AB}" type="slidenum">
              <a:rPr lang="en-EG" smtClean="0"/>
              <a:t>‹#›</a:t>
            </a:fld>
            <a:endParaRPr lang="en-EG"/>
          </a:p>
        </p:txBody>
      </p:sp>
    </p:spTree>
    <p:extLst>
      <p:ext uri="{BB962C8B-B14F-4D97-AF65-F5344CB8AC3E}">
        <p14:creationId xmlns:p14="http://schemas.microsoft.com/office/powerpoint/2010/main" val="2295671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35FA46CA-7C1D-F448-A421-13E24C8D12AB}" type="slidenum">
              <a:rPr lang="en-EG" smtClean="0"/>
              <a:t>3</a:t>
            </a:fld>
            <a:endParaRPr lang="en-EG"/>
          </a:p>
        </p:txBody>
      </p:sp>
    </p:spTree>
    <p:extLst>
      <p:ext uri="{BB962C8B-B14F-4D97-AF65-F5344CB8AC3E}">
        <p14:creationId xmlns:p14="http://schemas.microsoft.com/office/powerpoint/2010/main" val="348312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35FA46CA-7C1D-F448-A421-13E24C8D12AB}" type="slidenum">
              <a:rPr lang="en-EG" smtClean="0"/>
              <a:t>14</a:t>
            </a:fld>
            <a:endParaRPr lang="en-EG"/>
          </a:p>
        </p:txBody>
      </p:sp>
    </p:spTree>
    <p:extLst>
      <p:ext uri="{BB962C8B-B14F-4D97-AF65-F5344CB8AC3E}">
        <p14:creationId xmlns:p14="http://schemas.microsoft.com/office/powerpoint/2010/main" val="875752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30AB6-BD11-DBA2-DEF0-5F3D7AF51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22311-7BF0-1B47-FC8C-191B13245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81269-8248-C742-45D1-5D8E70D8BE93}"/>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DAEAA24D-B2E7-F1E9-740A-9617F2919FB9}"/>
              </a:ext>
            </a:extLst>
          </p:cNvPr>
          <p:cNvSpPr>
            <a:spLocks noGrp="1"/>
          </p:cNvSpPr>
          <p:nvPr>
            <p:ph type="sldNum" sz="quarter" idx="5"/>
          </p:nvPr>
        </p:nvSpPr>
        <p:spPr/>
        <p:txBody>
          <a:bodyPr/>
          <a:lstStyle/>
          <a:p>
            <a:fld id="{35FA46CA-7C1D-F448-A421-13E24C8D12AB}" type="slidenum">
              <a:rPr lang="en-EG" smtClean="0"/>
              <a:t>15</a:t>
            </a:fld>
            <a:endParaRPr lang="en-EG"/>
          </a:p>
        </p:txBody>
      </p:sp>
    </p:spTree>
    <p:extLst>
      <p:ext uri="{BB962C8B-B14F-4D97-AF65-F5344CB8AC3E}">
        <p14:creationId xmlns:p14="http://schemas.microsoft.com/office/powerpoint/2010/main" val="1578920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6BFE7-178E-A62B-9F08-21CFE1111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BDEB8-DDBA-0B93-8733-A1C1202FA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BDD0D-38DA-A742-3808-5795069A3459}"/>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AA5863DE-1C6C-B77A-A106-2B4E220A82A6}"/>
              </a:ext>
            </a:extLst>
          </p:cNvPr>
          <p:cNvSpPr>
            <a:spLocks noGrp="1"/>
          </p:cNvSpPr>
          <p:nvPr>
            <p:ph type="sldNum" sz="quarter" idx="5"/>
          </p:nvPr>
        </p:nvSpPr>
        <p:spPr/>
        <p:txBody>
          <a:bodyPr/>
          <a:lstStyle/>
          <a:p>
            <a:fld id="{35FA46CA-7C1D-F448-A421-13E24C8D12AB}" type="slidenum">
              <a:rPr lang="en-EG" smtClean="0"/>
              <a:t>16</a:t>
            </a:fld>
            <a:endParaRPr lang="en-EG"/>
          </a:p>
        </p:txBody>
      </p:sp>
    </p:spTree>
    <p:extLst>
      <p:ext uri="{BB962C8B-B14F-4D97-AF65-F5344CB8AC3E}">
        <p14:creationId xmlns:p14="http://schemas.microsoft.com/office/powerpoint/2010/main" val="396133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A9667-424F-B8B6-527A-73DF66D3A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52820-9973-A32F-D567-C04B68553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16BFF-E2AD-C27B-2026-603F1FBD80F5}"/>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D48155FC-73EA-B6A8-ABED-C86175B36DBA}"/>
              </a:ext>
            </a:extLst>
          </p:cNvPr>
          <p:cNvSpPr>
            <a:spLocks noGrp="1"/>
          </p:cNvSpPr>
          <p:nvPr>
            <p:ph type="sldNum" sz="quarter" idx="5"/>
          </p:nvPr>
        </p:nvSpPr>
        <p:spPr/>
        <p:txBody>
          <a:bodyPr/>
          <a:lstStyle/>
          <a:p>
            <a:fld id="{35FA46CA-7C1D-F448-A421-13E24C8D12AB}" type="slidenum">
              <a:rPr lang="en-EG" smtClean="0"/>
              <a:t>17</a:t>
            </a:fld>
            <a:endParaRPr lang="en-EG"/>
          </a:p>
        </p:txBody>
      </p:sp>
    </p:spTree>
    <p:extLst>
      <p:ext uri="{BB962C8B-B14F-4D97-AF65-F5344CB8AC3E}">
        <p14:creationId xmlns:p14="http://schemas.microsoft.com/office/powerpoint/2010/main" val="3245877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C2FC-5112-E407-2D4E-D0B198B9E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98962-5ED8-5305-FC75-889D2C2FD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D05DE4-6B38-89EC-D01E-9B5FCCD0BDE4}"/>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0605064C-E4C1-8F42-DA5B-532A26833BE9}"/>
              </a:ext>
            </a:extLst>
          </p:cNvPr>
          <p:cNvSpPr>
            <a:spLocks noGrp="1"/>
          </p:cNvSpPr>
          <p:nvPr>
            <p:ph type="sldNum" sz="quarter" idx="5"/>
          </p:nvPr>
        </p:nvSpPr>
        <p:spPr/>
        <p:txBody>
          <a:bodyPr/>
          <a:lstStyle/>
          <a:p>
            <a:fld id="{35FA46CA-7C1D-F448-A421-13E24C8D12AB}" type="slidenum">
              <a:rPr lang="en-EG" smtClean="0"/>
              <a:t>18</a:t>
            </a:fld>
            <a:endParaRPr lang="en-EG"/>
          </a:p>
        </p:txBody>
      </p:sp>
    </p:spTree>
    <p:extLst>
      <p:ext uri="{BB962C8B-B14F-4D97-AF65-F5344CB8AC3E}">
        <p14:creationId xmlns:p14="http://schemas.microsoft.com/office/powerpoint/2010/main" val="515458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99D8-F5EC-FD7E-75D3-AC9554AF1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3B29E-41F7-DA5B-2E92-6A269B1AE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5905E8-D72C-190A-194F-E9D0082A18E5}"/>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470A007E-DC52-3D85-06D7-0D01EE066DA2}"/>
              </a:ext>
            </a:extLst>
          </p:cNvPr>
          <p:cNvSpPr>
            <a:spLocks noGrp="1"/>
          </p:cNvSpPr>
          <p:nvPr>
            <p:ph type="sldNum" sz="quarter" idx="5"/>
          </p:nvPr>
        </p:nvSpPr>
        <p:spPr/>
        <p:txBody>
          <a:bodyPr/>
          <a:lstStyle/>
          <a:p>
            <a:fld id="{35FA46CA-7C1D-F448-A421-13E24C8D12AB}" type="slidenum">
              <a:rPr lang="en-EG" smtClean="0"/>
              <a:t>19</a:t>
            </a:fld>
            <a:endParaRPr lang="en-EG"/>
          </a:p>
        </p:txBody>
      </p:sp>
    </p:spTree>
    <p:extLst>
      <p:ext uri="{BB962C8B-B14F-4D97-AF65-F5344CB8AC3E}">
        <p14:creationId xmlns:p14="http://schemas.microsoft.com/office/powerpoint/2010/main" val="3025417709"/>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0E70-DDFB-7249-1F1D-20F3CB44B9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AA15AA3F-F7A3-ADFC-4730-9BE178A8CD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82B77292-40EF-B612-EA0F-031909CD994D}"/>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5" name="Footer Placeholder 4">
            <a:extLst>
              <a:ext uri="{FF2B5EF4-FFF2-40B4-BE49-F238E27FC236}">
                <a16:creationId xmlns:a16="http://schemas.microsoft.com/office/drawing/2014/main" id="{F561075F-CF85-B2EC-FC97-D30D64888076}"/>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F6D62834-F148-EDE2-99FA-163176251F7E}"/>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1864168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2079-5462-87F4-C034-8A50BCCFB659}"/>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67C5E392-D557-2813-B5B1-FFC9E9C8FE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3192D93B-96CE-B832-4B8D-62C9899604CB}"/>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5" name="Footer Placeholder 4">
            <a:extLst>
              <a:ext uri="{FF2B5EF4-FFF2-40B4-BE49-F238E27FC236}">
                <a16:creationId xmlns:a16="http://schemas.microsoft.com/office/drawing/2014/main" id="{4C3640DC-9217-360B-8E2D-D007DCA4F93D}"/>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023DF61B-88A4-2030-F010-4790B8BC52FD}"/>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3044634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1CE77-0159-3C81-AEA6-2B140D566F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04A95A31-240E-E6A4-3B6A-BBF5A93FF0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B0C541-2D7F-B16C-B40F-6338F95570AC}"/>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5" name="Footer Placeholder 4">
            <a:extLst>
              <a:ext uri="{FF2B5EF4-FFF2-40B4-BE49-F238E27FC236}">
                <a16:creationId xmlns:a16="http://schemas.microsoft.com/office/drawing/2014/main" id="{3A32EB78-43B1-26D8-3A95-6C75FFFA9CD7}"/>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20DC8142-B745-B93C-5E97-CFC6DD468697}"/>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3937926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6FB7-AEF9-E8F8-B93B-8754FF5B1C3A}"/>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8D04699B-8250-2665-8C30-5135DA86D8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1F1D778D-E7B0-9DAE-21E1-BB74E8EABC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EDF178DE-F247-E9E9-130D-F5D340786978}"/>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6" name="Footer Placeholder 5">
            <a:extLst>
              <a:ext uri="{FF2B5EF4-FFF2-40B4-BE49-F238E27FC236}">
                <a16:creationId xmlns:a16="http://schemas.microsoft.com/office/drawing/2014/main" id="{6EF5620C-CE7D-E059-2F3A-B62880782DF5}"/>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0126FD16-6073-DD24-969B-A6A9ED343F37}"/>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314839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7E38-C8F4-AD1A-6281-F5E5952BBA7B}"/>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0DD31EFC-7260-181D-AF7A-462A11BF2A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87DE7-9BD8-0A72-9CE8-C64477FBB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7878803B-4E54-0EE5-23EB-F527B4BB09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862976-1D7E-2F1C-3987-1BF8D4B861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D432B7AE-A890-1C6E-F030-3118B8BBE4DE}"/>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8" name="Footer Placeholder 7">
            <a:extLst>
              <a:ext uri="{FF2B5EF4-FFF2-40B4-BE49-F238E27FC236}">
                <a16:creationId xmlns:a16="http://schemas.microsoft.com/office/drawing/2014/main" id="{901F12B2-2CA8-AA05-C805-D21390F603E1}"/>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AE701CD1-E9DF-EAE3-0CDF-EDF2A79F8354}"/>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542927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2EFE6-5B1A-ACC3-656C-8531FCC4C8F8}"/>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EABE1956-71F7-5EBD-76E1-9F70E0B89593}"/>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4" name="Footer Placeholder 3">
            <a:extLst>
              <a:ext uri="{FF2B5EF4-FFF2-40B4-BE49-F238E27FC236}">
                <a16:creationId xmlns:a16="http://schemas.microsoft.com/office/drawing/2014/main" id="{6EEA7BD4-5C3C-C233-3E6D-912312E7E091}"/>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8C5D8E2F-D722-BCB9-CA63-DA96A6C70830}"/>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3784793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CDDF20-8F44-10F2-68AF-C7A4A693BC83}"/>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3" name="Footer Placeholder 2">
            <a:extLst>
              <a:ext uri="{FF2B5EF4-FFF2-40B4-BE49-F238E27FC236}">
                <a16:creationId xmlns:a16="http://schemas.microsoft.com/office/drawing/2014/main" id="{8C3CE379-98CD-0549-8C3F-96D32FE0F685}"/>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BFE8D986-BD3D-70D6-6115-1DF2F0E7DE69}"/>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1265399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E1538-7A4B-55E6-DFDB-A6669985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5D75A0BC-558F-8822-1C92-2329D5620B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3FA28A80-2DF0-7FF6-4DA5-F5CADBBD1F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214248-E54A-73F0-84ED-5DA2C44B1828}"/>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6" name="Footer Placeholder 5">
            <a:extLst>
              <a:ext uri="{FF2B5EF4-FFF2-40B4-BE49-F238E27FC236}">
                <a16:creationId xmlns:a16="http://schemas.microsoft.com/office/drawing/2014/main" id="{209E6DB8-181D-F183-CBC6-2F5BC8B9D2A3}"/>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32873C45-F2E1-8578-301B-351075BF6532}"/>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2188066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4471-5113-4CA2-298A-4334B519B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6BC2FC57-A88D-D25D-AD36-14BC87FFF2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D83624BF-22E8-9EB7-268E-35C93212D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34F29-B85B-8EE6-7846-D65B8F40C966}"/>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6" name="Footer Placeholder 5">
            <a:extLst>
              <a:ext uri="{FF2B5EF4-FFF2-40B4-BE49-F238E27FC236}">
                <a16:creationId xmlns:a16="http://schemas.microsoft.com/office/drawing/2014/main" id="{0FE4C645-C0CD-4F5F-9842-66BD31DACDD3}"/>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A7ED4C68-4ACA-280F-B545-466B36199FFB}"/>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2153239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AE04D-4A41-EEB8-3ED5-D1FD92AC220C}"/>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0BA13EBD-6CDA-4D35-BC70-E317F0E68F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82BB9353-7F1F-7035-1CBD-E6EA7A815230}"/>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5" name="Footer Placeholder 4">
            <a:extLst>
              <a:ext uri="{FF2B5EF4-FFF2-40B4-BE49-F238E27FC236}">
                <a16:creationId xmlns:a16="http://schemas.microsoft.com/office/drawing/2014/main" id="{BDD483F9-AA21-E273-5665-67FB27FD74BF}"/>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58BE5A0D-AB67-525D-A759-CF159E8DCE24}"/>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1329205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70F3E7-A656-71B7-4B7C-2627FB347D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50A13B85-10D3-9575-197E-F3CCCE09A7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00406ED7-D855-79E9-B9E7-9AB2B4EC57BF}"/>
              </a:ext>
            </a:extLst>
          </p:cNvPr>
          <p:cNvSpPr>
            <a:spLocks noGrp="1"/>
          </p:cNvSpPr>
          <p:nvPr>
            <p:ph type="dt" sz="half" idx="10"/>
          </p:nvPr>
        </p:nvSpPr>
        <p:spPr/>
        <p:txBody>
          <a:bodyPr/>
          <a:lstStyle/>
          <a:p>
            <a:fld id="{A11AE60B-51E9-5C4D-9745-9E3F9307D33A}" type="datetimeFigureOut">
              <a:rPr lang="en-EG" smtClean="0"/>
              <a:t>12/05/2026</a:t>
            </a:fld>
            <a:endParaRPr lang="en-EG"/>
          </a:p>
        </p:txBody>
      </p:sp>
      <p:sp>
        <p:nvSpPr>
          <p:cNvPr id="5" name="Footer Placeholder 4">
            <a:extLst>
              <a:ext uri="{FF2B5EF4-FFF2-40B4-BE49-F238E27FC236}">
                <a16:creationId xmlns:a16="http://schemas.microsoft.com/office/drawing/2014/main" id="{D7D77B8A-344F-6C97-77F0-B0C0FEB4E46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1865A49E-C559-547C-718E-818A14DC5A25}"/>
              </a:ext>
            </a:extLst>
          </p:cNvPr>
          <p:cNvSpPr>
            <a:spLocks noGrp="1"/>
          </p:cNvSpPr>
          <p:nvPr>
            <p:ph type="sldNum" sz="quarter" idx="12"/>
          </p:nvPr>
        </p:nvSpPr>
        <p:spPr/>
        <p:txBody>
          <a:bodyPr/>
          <a:lstStyle/>
          <a:p>
            <a:fld id="{9838719C-C498-5B4D-8EB7-2A019310DABA}" type="slidenum">
              <a:rPr lang="en-EG" smtClean="0"/>
              <a:t>‹#›</a:t>
            </a:fld>
            <a:endParaRPr lang="en-EG"/>
          </a:p>
        </p:txBody>
      </p:sp>
    </p:spTree>
    <p:extLst>
      <p:ext uri="{BB962C8B-B14F-4D97-AF65-F5344CB8AC3E}">
        <p14:creationId xmlns:p14="http://schemas.microsoft.com/office/powerpoint/2010/main" val="347070282"/>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387838-0532-87E1-3751-BFFB407804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CE5BD192-A14B-77CD-934B-D95169723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6F4B5E60-BD39-5B8A-13A8-93DD75703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1AE60B-51E9-5C4D-9745-9E3F9307D33A}" type="datetimeFigureOut">
              <a:rPr lang="en-EG" smtClean="0"/>
              <a:t>12/05/2026</a:t>
            </a:fld>
            <a:endParaRPr lang="en-EG"/>
          </a:p>
        </p:txBody>
      </p:sp>
      <p:sp>
        <p:nvSpPr>
          <p:cNvPr id="5" name="Footer Placeholder 4">
            <a:extLst>
              <a:ext uri="{FF2B5EF4-FFF2-40B4-BE49-F238E27FC236}">
                <a16:creationId xmlns:a16="http://schemas.microsoft.com/office/drawing/2014/main" id="{8390F3BB-9DA7-2D62-9140-2248DEF7FD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G"/>
          </a:p>
        </p:txBody>
      </p:sp>
      <p:sp>
        <p:nvSpPr>
          <p:cNvPr id="6" name="Slide Number Placeholder 5">
            <a:extLst>
              <a:ext uri="{FF2B5EF4-FFF2-40B4-BE49-F238E27FC236}">
                <a16:creationId xmlns:a16="http://schemas.microsoft.com/office/drawing/2014/main" id="{F3BDB69D-C0BA-BD64-CA3D-0DE1655FC5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38719C-C498-5B4D-8EB7-2A019310DABA}" type="slidenum">
              <a:rPr lang="en-EG" smtClean="0"/>
              <a:t>‹#›</a:t>
            </a:fld>
            <a:endParaRPr lang="en-EG"/>
          </a:p>
        </p:txBody>
      </p:sp>
    </p:spTree>
    <p:extLst>
      <p:ext uri="{BB962C8B-B14F-4D97-AF65-F5344CB8AC3E}">
        <p14:creationId xmlns:p14="http://schemas.microsoft.com/office/powerpoint/2010/main" val="2015031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5.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2.wdp"/></Relationships>
</file>

<file path=ppt/slides/_rels/slide16.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2.wdp"/></Relationships>
</file>

<file path=ppt/slides/_rels/slide17.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2.wdp"/></Relationships>
</file>

<file path=ppt/slides/_rels/slide18.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2.wdp"/></Relationships>
</file>

<file path=ppt/slides/_rels/slide19.xml.rels><?xml version="1.0" encoding="UTF-8"?><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3.wdp"/></Relationships>
</file>

<file path=ppt/slides/_rels/slide20.xml.rels><?xml version="1.0" encoding="UTF-8"?><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losing of The Grand Egyptian Museum in preparation for its official opening.">
            <a:extLst>
              <a:ext uri="{FF2B5EF4-FFF2-40B4-BE49-F238E27FC236}">
                <a16:creationId xmlns:a16="http://schemas.microsoft.com/office/drawing/2014/main" id="{3935EE5D-3776-DFE5-BE33-1F00CC5BD555}"/>
              </a:ext>
            </a:extLst>
          </p:cNvPr>
          <p:cNvPicPr>
            <a:picLocks noChangeAspect="1"/>
          </p:cNvPicPr>
          <p:nvPr/>
        </p:nvPicPr>
        <p:blipFill>
          <a:blip r:embed="rId2">
            <a:alphaModFix amt="59000"/>
          </a:blip>
          <a:srcRect l="-16" r="35025" b="33532"/>
          <a:stretch>
            <a:fillRect/>
          </a:stretch>
        </p:blipFill>
        <p:spPr>
          <a:xfrm>
            <a:off x="-3048" y="10"/>
            <a:ext cx="12191999" cy="6857990"/>
          </a:xfrm>
          <a:prstGeom prst="rect">
            <a:avLst/>
          </a:prstGeom>
          <a:ln>
            <a:noFill/>
          </a:ln>
        </p:spPr>
      </p:pic>
      <p:sp>
        <p:nvSpPr>
          <p:cNvPr id="14" name="Rectangle 13">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5991BAD-CF76-8A61-D3B2-39C9A80C4708}"/>
              </a:ext>
            </a:extLst>
          </p:cNvPr>
          <p:cNvSpPr txBox="1"/>
          <p:nvPr/>
        </p:nvSpPr>
        <p:spPr>
          <a:xfrm>
            <a:off x="1222744" y="1109687"/>
            <a:ext cx="6103088" cy="840230"/>
          </a:xfrm>
          <a:prstGeom prst="rect">
            <a:avLst/>
          </a:prstGeom>
          <a:noFill/>
        </p:spPr>
        <p:txBody>
          <a:bodyPr wrap="square">
            <a:spAutoFit/>
          </a:bodyPr>
          <a:lstStyle/>
          <a:p>
            <a:pPr algn="ctr">
              <a:lnSpc>
                <a:spcPct val="90000"/>
              </a:lnSpc>
              <a:spcBef>
                <a:spcPct val="0"/>
              </a:spcBef>
              <a:spcAft>
                <a:spcPts val="600"/>
              </a:spcAft>
            </a:pPr>
            <a:r>
              <a:rPr lang="en-US" sz="5400" dirty="0">
                <a:solidFill>
                  <a:srgbClr val="FFFFFF"/>
                </a:solidFill>
                <a:latin typeface="Felix Titling" panose="04060505060202020A04" pitchFamily="82" charset="77"/>
                <a:ea typeface="+mj-ea"/>
                <a:cs typeface="Futura Medium" panose="020B0602020204020303" pitchFamily="34" charset="-79"/>
              </a:rPr>
              <a:t>Pharaohs</a:t>
            </a:r>
            <a:endParaRPr lang="en-US" sz="4800" dirty="0">
              <a:solidFill>
                <a:srgbClr val="FFFFFF"/>
              </a:solidFill>
              <a:latin typeface="Felix Titling" panose="04060505060202020A04" pitchFamily="82" charset="77"/>
              <a:ea typeface="+mj-ea"/>
              <a:cs typeface="Futura Medium" panose="020B0602020204020303" pitchFamily="34" charset="-79"/>
            </a:endParaRPr>
          </a:p>
        </p:txBody>
      </p:sp>
      <p:sp>
        <p:nvSpPr>
          <p:cNvPr id="16" name="TextBox 15">
            <a:extLst>
              <a:ext uri="{FF2B5EF4-FFF2-40B4-BE49-F238E27FC236}">
                <a16:creationId xmlns:a16="http://schemas.microsoft.com/office/drawing/2014/main" id="{A5C01286-8B27-D18D-D812-91CE9E76E3BF}"/>
              </a:ext>
            </a:extLst>
          </p:cNvPr>
          <p:cNvSpPr txBox="1"/>
          <p:nvPr/>
        </p:nvSpPr>
        <p:spPr>
          <a:xfrm>
            <a:off x="2795088" y="1949917"/>
            <a:ext cx="6262576" cy="923330"/>
          </a:xfrm>
          <a:prstGeom prst="rect">
            <a:avLst/>
          </a:prstGeom>
          <a:noFill/>
        </p:spPr>
        <p:txBody>
          <a:bodyPr wrap="square">
            <a:spAutoFit/>
          </a:bodyPr>
          <a:lstStyle/>
          <a:p>
            <a:r>
              <a:rPr lang="en-US" sz="5400" dirty="0">
                <a:solidFill>
                  <a:srgbClr val="FFFFFF"/>
                </a:solidFill>
                <a:latin typeface="Felix Titling" panose="04060505060202020A04" pitchFamily="82" charset="77"/>
                <a:ea typeface="+mj-ea"/>
                <a:cs typeface="Futura Medium" panose="020B0602020204020303" pitchFamily="34" charset="-79"/>
              </a:rPr>
              <a:t>Legacy</a:t>
            </a:r>
            <a:endParaRPr lang="en-EG" dirty="0"/>
          </a:p>
        </p:txBody>
      </p:sp>
      <p:pic>
        <p:nvPicPr>
          <p:cNvPr id="17" name="Picture 16" descr="Free Png Small Single Cloud Png Images Transparent - Transparent Background Cloud  PNG Transparent With C… |">
            <a:extLst>
              <a:ext uri="{FF2B5EF4-FFF2-40B4-BE49-F238E27FC236}">
                <a16:creationId xmlns:a16="http://schemas.microsoft.com/office/drawing/2014/main" id="{4FBB7FCC-B5A2-6615-D073-D7A80F568293}"/>
              </a:ext>
            </a:extLst>
          </p:cNvPr>
          <p:cNvPicPr>
            <a:picLocks noChangeAspect="1"/>
          </p:cNvPicPr>
          <p:nvPr/>
        </p:nvPicPr>
        <p:blipFill>
          <a:blip r:embed="rId3">
            <a:alphaModFix amt="85000"/>
          </a:blip>
          <a:srcRect/>
          <a:stretch/>
        </p:blipFill>
        <p:spPr>
          <a:xfrm>
            <a:off x="-2075092" y="2411582"/>
            <a:ext cx="7219167" cy="7396206"/>
          </a:xfrm>
          <a:prstGeom prst="rect">
            <a:avLst/>
          </a:prstGeom>
        </p:spPr>
      </p:pic>
      <p:pic>
        <p:nvPicPr>
          <p:cNvPr id="18" name="Picture 17" descr="Free Png Small Single Cloud Png Images Transparent - Transparent Background Cloud  PNG Transparent With C… |">
            <a:extLst>
              <a:ext uri="{FF2B5EF4-FFF2-40B4-BE49-F238E27FC236}">
                <a16:creationId xmlns:a16="http://schemas.microsoft.com/office/drawing/2014/main" id="{57B3D145-BBC7-5169-DED2-1A116DB5CF0E}"/>
              </a:ext>
            </a:extLst>
          </p:cNvPr>
          <p:cNvPicPr>
            <a:picLocks noChangeAspect="1"/>
          </p:cNvPicPr>
          <p:nvPr/>
        </p:nvPicPr>
        <p:blipFill>
          <a:blip r:embed="rId3">
            <a:alphaModFix amt="85000"/>
          </a:blip>
          <a:srcRect/>
          <a:stretch/>
        </p:blipFill>
        <p:spPr>
          <a:xfrm>
            <a:off x="7743606" y="-2209851"/>
            <a:ext cx="7219167" cy="7396206"/>
          </a:xfrm>
          <a:prstGeom prst="rect">
            <a:avLst/>
          </a:prstGeom>
        </p:spPr>
      </p:pic>
      <p:sp>
        <p:nvSpPr>
          <p:cNvPr id="22" name="TextBox 21">
            <a:extLst>
              <a:ext uri="{FF2B5EF4-FFF2-40B4-BE49-F238E27FC236}">
                <a16:creationId xmlns:a16="http://schemas.microsoft.com/office/drawing/2014/main" id="{07FBDBB0-A17F-1C5B-BAF3-7C8CBD63D4DF}"/>
              </a:ext>
            </a:extLst>
          </p:cNvPr>
          <p:cNvSpPr txBox="1"/>
          <p:nvPr/>
        </p:nvSpPr>
        <p:spPr>
          <a:xfrm>
            <a:off x="2174869" y="7610556"/>
            <a:ext cx="8537944" cy="3139321"/>
          </a:xfrm>
          <a:prstGeom prst="rect">
            <a:avLst/>
          </a:prstGeom>
          <a:noFill/>
        </p:spPr>
        <p:txBody>
          <a:bodyPr wrap="square">
            <a:spAutoFit/>
          </a:bodyPr>
          <a:lstStyle/>
          <a:p>
            <a:pPr>
              <a:buNone/>
            </a:pPr>
            <a:r>
              <a:rPr lang="en-US" sz="1800" b="1" dirty="0">
                <a:solidFill>
                  <a:schemeClr val="bg1">
                    <a:lumMod val="85000"/>
                  </a:schemeClr>
                </a:solidFill>
                <a:latin typeface="Felix Titling" pitchFamily="82" charset="77"/>
              </a:rPr>
              <a:t>Pharaohs Legacy</a:t>
            </a:r>
            <a:r>
              <a:rPr lang="en-US" sz="1800" dirty="0">
                <a:solidFill>
                  <a:schemeClr val="bg1">
                    <a:lumMod val="85000"/>
                  </a:schemeClr>
                </a:solidFill>
                <a:latin typeface="Felix Titling" pitchFamily="82" charset="77"/>
              </a:rPr>
              <a:t xml:space="preserve"> is a full-stack web application inspired by the rich history of Ancient Egypt. The platform combines historical exploration with tourism services, allowing users to discover Egyptian pharaohs, temples, museums, and gods while also booking visits directly through the system.</a:t>
            </a:r>
          </a:p>
          <a:p>
            <a:pPr>
              <a:buNone/>
            </a:pPr>
            <a:endParaRPr lang="en-US" sz="1800" dirty="0">
              <a:solidFill>
                <a:schemeClr val="bg1">
                  <a:lumMod val="85000"/>
                </a:schemeClr>
              </a:solidFill>
              <a:latin typeface="Felix Titling" pitchFamily="82" charset="77"/>
            </a:endParaRPr>
          </a:p>
          <a:p>
            <a:pPr>
              <a:buNone/>
            </a:pPr>
            <a:r>
              <a:rPr lang="en-US" sz="1800" dirty="0">
                <a:solidFill>
                  <a:schemeClr val="bg1">
                    <a:lumMod val="85000"/>
                  </a:schemeClr>
                </a:solidFill>
                <a:latin typeface="Felix Titling" pitchFamily="82" charset="77"/>
              </a:rPr>
              <a:t>The website is designed with a modern Egyptian-themed user interface using dark and gold styling to create an immersive experience. The system provides both educational content and a complete tourism booking solution in one integrated platform.</a:t>
            </a:r>
          </a:p>
        </p:txBody>
      </p:sp>
    </p:spTree>
    <p:extLst>
      <p:ext uri="{BB962C8B-B14F-4D97-AF65-F5344CB8AC3E}">
        <p14:creationId xmlns:p14="http://schemas.microsoft.com/office/powerpoint/2010/main" val="1187469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2BAB3AF-A673-6144-3E4B-0BFF18C7793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E795FA2-4B71-735F-7B39-E4791B6C6E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losing of The Grand Egyptian Museum in preparation for its official opening.">
            <a:extLst>
              <a:ext uri="{FF2B5EF4-FFF2-40B4-BE49-F238E27FC236}">
                <a16:creationId xmlns:a16="http://schemas.microsoft.com/office/drawing/2014/main" id="{DD83BBC1-6499-9F38-4539-8DE3191F54CE}"/>
              </a:ext>
            </a:extLst>
          </p:cNvPr>
          <p:cNvPicPr>
            <a:picLocks noChangeAspect="1"/>
          </p:cNvPicPr>
          <p:nvPr/>
        </p:nvPicPr>
        <p:blipFill>
          <a:blip r:embed="rId2">
            <a:alphaModFix amt="57000"/>
          </a:blip>
          <a:srcRect l="-16" t="28604" r="35025" b="4928"/>
          <a:stretch>
            <a:fillRect/>
          </a:stretch>
        </p:blipFill>
        <p:spPr>
          <a:xfrm>
            <a:off x="-3048" y="0"/>
            <a:ext cx="12191999" cy="6857990"/>
          </a:xfrm>
          <a:prstGeom prst="rect">
            <a:avLst/>
          </a:prstGeom>
          <a:ln>
            <a:noFill/>
          </a:ln>
        </p:spPr>
      </p:pic>
      <p:sp>
        <p:nvSpPr>
          <p:cNvPr id="14" name="Rectangle 13">
            <a:extLst>
              <a:ext uri="{FF2B5EF4-FFF2-40B4-BE49-F238E27FC236}">
                <a16:creationId xmlns:a16="http://schemas.microsoft.com/office/drawing/2014/main" id="{53E8C613-827B-CCF7-2D72-8EDF07147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90C1C3B-841F-6D5A-4091-47194D1A5644}"/>
              </a:ext>
            </a:extLst>
          </p:cNvPr>
          <p:cNvSpPr txBox="1"/>
          <p:nvPr/>
        </p:nvSpPr>
        <p:spPr>
          <a:xfrm>
            <a:off x="1116419" y="-7209849"/>
            <a:ext cx="6103088" cy="840230"/>
          </a:xfrm>
          <a:prstGeom prst="rect">
            <a:avLst/>
          </a:prstGeom>
          <a:noFill/>
        </p:spPr>
        <p:txBody>
          <a:bodyPr wrap="square">
            <a:spAutoFit/>
          </a:bodyPr>
          <a:lstStyle/>
          <a:p>
            <a:pPr algn="ctr">
              <a:lnSpc>
                <a:spcPct val="90000"/>
              </a:lnSpc>
              <a:spcBef>
                <a:spcPct val="0"/>
              </a:spcBef>
              <a:spcAft>
                <a:spcPts val="600"/>
              </a:spcAft>
            </a:pPr>
            <a:r>
              <a:rPr lang="en-US" sz="5400" dirty="0">
                <a:solidFill>
                  <a:srgbClr val="FFFFFF"/>
                </a:solidFill>
                <a:latin typeface="Felix Titling" panose="04060505060202020A04" pitchFamily="82" charset="77"/>
                <a:ea typeface="+mj-ea"/>
                <a:cs typeface="Futura Medium" panose="020B0602020204020303" pitchFamily="34" charset="-79"/>
              </a:rPr>
              <a:t>Pharaohs</a:t>
            </a:r>
            <a:endParaRPr lang="en-US" sz="4800" dirty="0">
              <a:solidFill>
                <a:srgbClr val="FFFFFF"/>
              </a:solidFill>
              <a:latin typeface="Felix Titling" panose="04060505060202020A04" pitchFamily="82" charset="77"/>
              <a:ea typeface="+mj-ea"/>
              <a:cs typeface="Futura Medium" panose="020B0602020204020303" pitchFamily="34" charset="-79"/>
            </a:endParaRPr>
          </a:p>
        </p:txBody>
      </p:sp>
      <p:sp>
        <p:nvSpPr>
          <p:cNvPr id="16" name="TextBox 15">
            <a:extLst>
              <a:ext uri="{FF2B5EF4-FFF2-40B4-BE49-F238E27FC236}">
                <a16:creationId xmlns:a16="http://schemas.microsoft.com/office/drawing/2014/main" id="{B4AD3431-50DB-245F-98C1-AE6CE28AD406}"/>
              </a:ext>
            </a:extLst>
          </p:cNvPr>
          <p:cNvSpPr txBox="1"/>
          <p:nvPr/>
        </p:nvSpPr>
        <p:spPr>
          <a:xfrm>
            <a:off x="2688763" y="-6369619"/>
            <a:ext cx="6262576" cy="923330"/>
          </a:xfrm>
          <a:prstGeom prst="rect">
            <a:avLst/>
          </a:prstGeom>
          <a:noFill/>
        </p:spPr>
        <p:txBody>
          <a:bodyPr wrap="square">
            <a:spAutoFit/>
          </a:bodyPr>
          <a:lstStyle/>
          <a:p>
            <a:r>
              <a:rPr lang="en-US" sz="5400" dirty="0">
                <a:solidFill>
                  <a:srgbClr val="FFFFFF"/>
                </a:solidFill>
                <a:latin typeface="Felix Titling" panose="04060505060202020A04" pitchFamily="82" charset="77"/>
                <a:ea typeface="+mj-ea"/>
                <a:cs typeface="Futura Medium" panose="020B0602020204020303" pitchFamily="34" charset="-79"/>
              </a:rPr>
              <a:t>Legacy</a:t>
            </a:r>
            <a:endParaRPr lang="en-EG" dirty="0"/>
          </a:p>
        </p:txBody>
      </p:sp>
      <p:pic>
        <p:nvPicPr>
          <p:cNvPr id="17" name="Picture 16" descr="Free Png Small Single Cloud Png Images Transparent - Transparent Background Cloud  PNG Transparent With C… |">
            <a:extLst>
              <a:ext uri="{FF2B5EF4-FFF2-40B4-BE49-F238E27FC236}">
                <a16:creationId xmlns:a16="http://schemas.microsoft.com/office/drawing/2014/main" id="{5157021B-2CD4-B718-92A5-D5369CAB821C}"/>
              </a:ext>
            </a:extLst>
          </p:cNvPr>
          <p:cNvPicPr>
            <a:picLocks noChangeAspect="1"/>
          </p:cNvPicPr>
          <p:nvPr/>
        </p:nvPicPr>
        <p:blipFill>
          <a:blip r:embed="rId3">
            <a:alphaModFix amt="85000"/>
          </a:blip>
          <a:srcRect/>
          <a:stretch/>
        </p:blipFill>
        <p:spPr>
          <a:xfrm>
            <a:off x="-2045512" y="-5907954"/>
            <a:ext cx="7219167" cy="7396206"/>
          </a:xfrm>
          <a:prstGeom prst="rect">
            <a:avLst/>
          </a:prstGeom>
        </p:spPr>
      </p:pic>
      <p:pic>
        <p:nvPicPr>
          <p:cNvPr id="18" name="Picture 17" descr="Free Png Small Single Cloud Png Images Transparent - Transparent Background Cloud  PNG Transparent With C… |">
            <a:extLst>
              <a:ext uri="{FF2B5EF4-FFF2-40B4-BE49-F238E27FC236}">
                <a16:creationId xmlns:a16="http://schemas.microsoft.com/office/drawing/2014/main" id="{4E7BAEE2-9946-FC96-1FBF-CC627903F727}"/>
              </a:ext>
            </a:extLst>
          </p:cNvPr>
          <p:cNvPicPr>
            <a:picLocks noChangeAspect="1"/>
          </p:cNvPicPr>
          <p:nvPr/>
        </p:nvPicPr>
        <p:blipFill>
          <a:blip r:embed="rId3">
            <a:alphaModFix amt="85000"/>
          </a:blip>
          <a:srcRect/>
          <a:stretch/>
        </p:blipFill>
        <p:spPr>
          <a:xfrm>
            <a:off x="7658547" y="-8319546"/>
            <a:ext cx="7219167" cy="7396206"/>
          </a:xfrm>
          <a:prstGeom prst="rect">
            <a:avLst/>
          </a:prstGeom>
        </p:spPr>
      </p:pic>
      <p:sp>
        <p:nvSpPr>
          <p:cNvPr id="3" name="TextBox 2">
            <a:extLst>
              <a:ext uri="{FF2B5EF4-FFF2-40B4-BE49-F238E27FC236}">
                <a16:creationId xmlns:a16="http://schemas.microsoft.com/office/drawing/2014/main" id="{FE510906-0CAF-877B-6589-3D0D507596DD}"/>
              </a:ext>
            </a:extLst>
          </p:cNvPr>
          <p:cNvSpPr txBox="1"/>
          <p:nvPr/>
        </p:nvSpPr>
        <p:spPr>
          <a:xfrm>
            <a:off x="2142461" y="1949917"/>
            <a:ext cx="8537944" cy="3139321"/>
          </a:xfrm>
          <a:prstGeom prst="rect">
            <a:avLst/>
          </a:prstGeom>
          <a:noFill/>
        </p:spPr>
        <p:txBody>
          <a:bodyPr wrap="square">
            <a:spAutoFit/>
          </a:bodyPr>
          <a:lstStyle/>
          <a:p>
            <a:pPr>
              <a:buNone/>
            </a:pPr>
            <a:r>
              <a:rPr lang="en-US" sz="1800" b="1" dirty="0">
                <a:solidFill>
                  <a:schemeClr val="bg1">
                    <a:lumMod val="85000"/>
                  </a:schemeClr>
                </a:solidFill>
                <a:latin typeface="Felix Titling" pitchFamily="82" charset="77"/>
              </a:rPr>
              <a:t>Pharaohs Legacy</a:t>
            </a:r>
            <a:r>
              <a:rPr lang="en-US" sz="1800" dirty="0">
                <a:solidFill>
                  <a:schemeClr val="bg1">
                    <a:lumMod val="85000"/>
                  </a:schemeClr>
                </a:solidFill>
                <a:latin typeface="Felix Titling" pitchFamily="82" charset="77"/>
              </a:rPr>
              <a:t xml:space="preserve"> is a full-stack web application inspired by the rich history of Ancient Egypt. The platform combines historical exploration with tourism services, allowing users to discover Egyptian pharaohs, temples, museums, and gods while also booking visits directly through the system.</a:t>
            </a:r>
          </a:p>
          <a:p>
            <a:pPr>
              <a:buNone/>
            </a:pPr>
            <a:endParaRPr lang="en-US" sz="1800" dirty="0">
              <a:solidFill>
                <a:schemeClr val="bg1">
                  <a:lumMod val="85000"/>
                </a:schemeClr>
              </a:solidFill>
              <a:latin typeface="Felix Titling" pitchFamily="82" charset="77"/>
            </a:endParaRPr>
          </a:p>
          <a:p>
            <a:pPr>
              <a:buNone/>
            </a:pPr>
            <a:r>
              <a:rPr lang="en-US" sz="1800" dirty="0">
                <a:solidFill>
                  <a:schemeClr val="bg1">
                    <a:lumMod val="85000"/>
                  </a:schemeClr>
                </a:solidFill>
                <a:latin typeface="Felix Titling" pitchFamily="82" charset="77"/>
              </a:rPr>
              <a:t>The website is designed with a modern Egyptian-themed user interface using dark and gold styling to create an immersive experience. The system provides both educational content and a complete tourism booking solution in one integrated platform.</a:t>
            </a:r>
          </a:p>
        </p:txBody>
      </p:sp>
    </p:spTree>
    <p:extLst>
      <p:ext uri="{BB962C8B-B14F-4D97-AF65-F5344CB8AC3E}">
        <p14:creationId xmlns:p14="http://schemas.microsoft.com/office/powerpoint/2010/main" val="3095576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alpha val="77000"/>
          </a:schemeClr>
        </a:solidFill>
        <a:effectLst/>
      </p:bgPr>
    </p:bg>
    <p:spTree>
      <p:nvGrpSpPr>
        <p:cNvPr id="1" name="">
          <a:extLst>
            <a:ext uri="{FF2B5EF4-FFF2-40B4-BE49-F238E27FC236}">
              <a16:creationId xmlns:a16="http://schemas.microsoft.com/office/drawing/2014/main" id="{AE70C569-9104-4323-DFE6-111E06111B5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B6A5A73-22CC-1232-7295-9A73E19E707C}"/>
              </a:ext>
            </a:extLst>
          </p:cNvPr>
          <p:cNvPicPr>
            <a:picLocks noChangeAspect="1"/>
          </p:cNvPicPr>
          <p:nvPr/>
        </p:nvPicPr>
        <p:blipFill>
          <a:blip r:embed="rId3">
            <a:alphaModFix amt="81000"/>
          </a:blip>
          <a:stretch>
            <a:fillRect/>
          </a:stretch>
        </p:blipFill>
        <p:spPr>
          <a:xfrm>
            <a:off x="-32909" y="-25369"/>
            <a:ext cx="12334638" cy="6938233"/>
          </a:xfrm>
          <a:prstGeom prst="rect">
            <a:avLst/>
          </a:prstGeom>
        </p:spPr>
      </p:pic>
      <p:sp>
        <p:nvSpPr>
          <p:cNvPr id="2" name="TextBox 1">
            <a:extLst>
              <a:ext uri="{FF2B5EF4-FFF2-40B4-BE49-F238E27FC236}">
                <a16:creationId xmlns:a16="http://schemas.microsoft.com/office/drawing/2014/main" id="{CAE05FE9-BA3D-FF54-85C5-10B458415081}"/>
              </a:ext>
            </a:extLst>
          </p:cNvPr>
          <p:cNvSpPr txBox="1"/>
          <p:nvPr/>
        </p:nvSpPr>
        <p:spPr>
          <a:xfrm>
            <a:off x="557981" y="585771"/>
            <a:ext cx="4145687" cy="707886"/>
          </a:xfrm>
          <a:prstGeom prst="rect">
            <a:avLst/>
          </a:prstGeom>
          <a:noFill/>
        </p:spPr>
        <p:txBody>
          <a:bodyPr wrap="none" rtlCol="0">
            <a:spAutoFit/>
          </a:bodyPr>
          <a:lstStyle/>
          <a:p>
            <a:r>
              <a:rPr lang="en-US" sz="4000" b="1" dirty="0">
                <a:solidFill>
                  <a:schemeClr val="bg1">
                    <a:lumMod val="85000"/>
                  </a:schemeClr>
                </a:solidFill>
                <a:latin typeface="Felix Titling" pitchFamily="82" charset="77"/>
              </a:rPr>
              <a:t>T</a:t>
            </a:r>
            <a:r>
              <a:rPr lang="en-EG" sz="4000" b="1" dirty="0">
                <a:solidFill>
                  <a:schemeClr val="bg1">
                    <a:lumMod val="85000"/>
                  </a:schemeClr>
                </a:solidFill>
                <a:latin typeface="Felix Titling" pitchFamily="82" charset="77"/>
              </a:rPr>
              <a:t>eam members</a:t>
            </a:r>
          </a:p>
        </p:txBody>
      </p:sp>
      <p:sp>
        <p:nvSpPr>
          <p:cNvPr id="3" name="TextBox 2">
            <a:extLst>
              <a:ext uri="{FF2B5EF4-FFF2-40B4-BE49-F238E27FC236}">
                <a16:creationId xmlns:a16="http://schemas.microsoft.com/office/drawing/2014/main" id="{8382E9B4-EEC3-7BF5-EAA7-A04894AF43F6}"/>
              </a:ext>
            </a:extLst>
          </p:cNvPr>
          <p:cNvSpPr txBox="1"/>
          <p:nvPr/>
        </p:nvSpPr>
        <p:spPr>
          <a:xfrm>
            <a:off x="146304" y="1571906"/>
            <a:ext cx="6374877" cy="3477875"/>
          </a:xfrm>
          <a:prstGeom prst="rect">
            <a:avLst/>
          </a:prstGeom>
          <a:noFill/>
        </p:spPr>
        <p:txBody>
          <a:bodyPr wrap="square" rtlCol="0">
            <a:spAutoFit/>
          </a:bodyPr>
          <a:lstStyle/>
          <a:p>
            <a:pPr marL="342900" indent="-342900">
              <a:buFont typeface="Arial" panose="020B0604020202020204" pitchFamily="34" charset="0"/>
              <a:buChar char="•"/>
            </a:pPr>
            <a:r>
              <a:rPr lang="en-US" sz="2400" b="1" dirty="0">
                <a:solidFill>
                  <a:schemeClr val="bg1">
                    <a:lumMod val="85000"/>
                  </a:schemeClr>
                </a:solidFill>
                <a:latin typeface="Book Antiqua" panose="02040602050305030304" pitchFamily="18" charset="0"/>
              </a:rPr>
              <a:t>S</a:t>
            </a:r>
            <a:r>
              <a:rPr lang="en-EG" sz="2400" b="1" dirty="0">
                <a:solidFill>
                  <a:schemeClr val="bg1">
                    <a:lumMod val="85000"/>
                  </a:schemeClr>
                </a:solidFill>
                <a:latin typeface="Book Antiqua" panose="02040602050305030304" pitchFamily="18" charset="0"/>
              </a:rPr>
              <a:t>ara mostafa kamel seddek</a:t>
            </a:r>
          </a:p>
          <a:p>
            <a:pPr marL="342900" indent="-342900">
              <a:buFont typeface="Arial" panose="020B0604020202020204" pitchFamily="34" charset="0"/>
              <a:buChar char="•"/>
            </a:pPr>
            <a:r>
              <a:rPr lang="en-US" sz="2400" b="1" dirty="0">
                <a:solidFill>
                  <a:schemeClr val="bg1">
                    <a:lumMod val="85000"/>
                  </a:schemeClr>
                </a:solidFill>
                <a:latin typeface="Book Antiqua" panose="02040602050305030304" pitchFamily="18" charset="0"/>
              </a:rPr>
              <a:t>D</a:t>
            </a:r>
            <a:r>
              <a:rPr lang="en-EG" sz="2400" b="1" dirty="0">
                <a:solidFill>
                  <a:schemeClr val="bg1">
                    <a:lumMod val="85000"/>
                  </a:schemeClr>
                </a:solidFill>
                <a:latin typeface="Book Antiqua" panose="02040602050305030304" pitchFamily="18" charset="0"/>
              </a:rPr>
              <a:t>ina salah aldin saber</a:t>
            </a:r>
          </a:p>
          <a:p>
            <a:pPr marL="342900" indent="-342900">
              <a:buFont typeface="Arial" panose="020B0604020202020204" pitchFamily="34" charset="0"/>
              <a:buChar char="•"/>
            </a:pPr>
            <a:r>
              <a:rPr lang="en-US" sz="2400" b="1" dirty="0">
                <a:solidFill>
                  <a:schemeClr val="bg1">
                    <a:lumMod val="85000"/>
                  </a:schemeClr>
                </a:solidFill>
                <a:latin typeface="Book Antiqua" panose="02040602050305030304" pitchFamily="18" charset="0"/>
              </a:rPr>
              <a:t>K</a:t>
            </a:r>
            <a:r>
              <a:rPr lang="en-EG" sz="2400" b="1" dirty="0">
                <a:solidFill>
                  <a:schemeClr val="bg1">
                    <a:lumMod val="85000"/>
                  </a:schemeClr>
                </a:solidFill>
                <a:latin typeface="Book Antiqua" panose="02040602050305030304" pitchFamily="18" charset="0"/>
              </a:rPr>
              <a:t xml:space="preserve">amal aldin </a:t>
            </a:r>
            <a:r>
              <a:rPr lang="en-US" sz="2400" b="1" dirty="0">
                <a:solidFill>
                  <a:schemeClr val="bg1">
                    <a:lumMod val="85000"/>
                  </a:schemeClr>
                </a:solidFill>
                <a:latin typeface="Book Antiqua" panose="02040602050305030304" pitchFamily="18" charset="0"/>
              </a:rPr>
              <a:t>abdulbasit</a:t>
            </a:r>
            <a:endParaRPr lang="en-EG" sz="2400" b="1" dirty="0">
              <a:solidFill>
                <a:schemeClr val="bg1">
                  <a:lumMod val="85000"/>
                </a:schemeClr>
              </a:solidFill>
              <a:latin typeface="Book Antiqua" panose="02040602050305030304" pitchFamily="18" charset="0"/>
            </a:endParaRPr>
          </a:p>
          <a:p>
            <a:pPr marL="342900" indent="-342900">
              <a:buFont typeface="Arial" panose="020B0604020202020204" pitchFamily="34" charset="0"/>
              <a:buChar char="•"/>
            </a:pPr>
            <a:r>
              <a:rPr lang="en-US" sz="2400" b="1" dirty="0">
                <a:solidFill>
                  <a:schemeClr val="bg1">
                    <a:lumMod val="85000"/>
                  </a:schemeClr>
                </a:solidFill>
                <a:latin typeface="Book Antiqua" panose="02040602050305030304" pitchFamily="18" charset="0"/>
              </a:rPr>
              <a:t>S</a:t>
            </a:r>
            <a:r>
              <a:rPr lang="en-EG" sz="2400" b="1" dirty="0">
                <a:solidFill>
                  <a:schemeClr val="bg1">
                    <a:lumMod val="85000"/>
                  </a:schemeClr>
                </a:solidFill>
                <a:latin typeface="Book Antiqua" panose="02040602050305030304" pitchFamily="18" charset="0"/>
              </a:rPr>
              <a:t xml:space="preserve">aad </a:t>
            </a:r>
            <a:r>
              <a:rPr lang="en-US" sz="2400" b="1" dirty="0" err="1">
                <a:solidFill>
                  <a:schemeClr val="bg1">
                    <a:lumMod val="85000"/>
                  </a:schemeClr>
                </a:solidFill>
                <a:latin typeface="Book Antiqua" panose="02040602050305030304" pitchFamily="18" charset="0"/>
              </a:rPr>
              <a:t>alhussaini</a:t>
            </a:r>
            <a:r>
              <a:rPr lang="en-US" sz="2400" b="1" dirty="0">
                <a:solidFill>
                  <a:schemeClr val="bg1">
                    <a:lumMod val="85000"/>
                  </a:schemeClr>
                </a:solidFill>
                <a:latin typeface="Book Antiqua" panose="02040602050305030304" pitchFamily="18" charset="0"/>
              </a:rPr>
              <a:t xml:space="preserve"> </a:t>
            </a:r>
            <a:br>
              <a:rPr lang="en-US" sz="2400" b="1" dirty="0">
                <a:solidFill>
                  <a:schemeClr val="bg1">
                    <a:lumMod val="85000"/>
                  </a:schemeClr>
                </a:solidFill>
                <a:latin typeface="Book Antiqua" panose="02040602050305030304" pitchFamily="18" charset="0"/>
              </a:rPr>
            </a:br>
            <a:endParaRPr lang="en-US" sz="2400" b="1" dirty="0">
              <a:solidFill>
                <a:schemeClr val="bg1">
                  <a:lumMod val="85000"/>
                </a:schemeClr>
              </a:solidFill>
              <a:latin typeface="Book Antiqua" panose="02040602050305030304" pitchFamily="18" charset="0"/>
            </a:endParaRPr>
          </a:p>
          <a:p>
            <a:r>
              <a:rPr lang="en-US" sz="2400" b="1" dirty="0">
                <a:solidFill>
                  <a:schemeClr val="bg1">
                    <a:lumMod val="85000"/>
                  </a:schemeClr>
                </a:solidFill>
                <a:latin typeface="Book Antiqua" panose="02040602050305030304" pitchFamily="18" charset="0"/>
              </a:rPr>
              <a:t>INFORMATION SYSTEM SECTION – 2</a:t>
            </a:r>
            <a:br>
              <a:rPr lang="en-US" sz="2400" b="1" dirty="0">
                <a:solidFill>
                  <a:schemeClr val="bg1">
                    <a:lumMod val="85000"/>
                  </a:schemeClr>
                </a:solidFill>
                <a:latin typeface="Book Antiqua" panose="02040602050305030304" pitchFamily="18" charset="0"/>
              </a:rPr>
            </a:br>
            <a:endParaRPr lang="ar-SA" sz="2400" b="1" dirty="0">
              <a:solidFill>
                <a:schemeClr val="bg1">
                  <a:lumMod val="85000"/>
                </a:schemeClr>
              </a:solidFill>
              <a:latin typeface="Book Antiqua" panose="02040602050305030304" pitchFamily="18" charset="0"/>
            </a:endParaRPr>
          </a:p>
          <a:p>
            <a:r>
              <a:rPr lang="en-US" sz="2400" b="1" dirty="0">
                <a:solidFill>
                  <a:schemeClr val="bg1">
                    <a:lumMod val="85000"/>
                  </a:schemeClr>
                </a:solidFill>
                <a:latin typeface="Book Antiqua" panose="02040602050305030304" pitchFamily="18" charset="0"/>
              </a:rPr>
              <a:t>Under the supervision of</a:t>
            </a:r>
            <a:r>
              <a:rPr lang="ar-SA" sz="2400" b="1" dirty="0">
                <a:solidFill>
                  <a:schemeClr val="bg1">
                    <a:lumMod val="85000"/>
                  </a:schemeClr>
                </a:solidFill>
                <a:latin typeface="Book Antiqua" panose="02040602050305030304" pitchFamily="18" charset="0"/>
              </a:rPr>
              <a:t>:</a:t>
            </a:r>
            <a:br>
              <a:rPr lang="en-US" sz="2400" b="1" dirty="0">
                <a:solidFill>
                  <a:schemeClr val="bg1">
                    <a:lumMod val="85000"/>
                  </a:schemeClr>
                </a:solidFill>
                <a:latin typeface="Book Antiqua" panose="02040602050305030304" pitchFamily="18" charset="0"/>
              </a:rPr>
            </a:br>
            <a:r>
              <a:rPr lang="en-US" sz="2800" b="1" dirty="0">
                <a:solidFill>
                  <a:schemeClr val="bg1">
                    <a:lumMod val="85000"/>
                  </a:schemeClr>
                </a:solidFill>
                <a:latin typeface="Book Antiqua" panose="02040602050305030304" pitchFamily="18" charset="0"/>
              </a:rPr>
              <a:t>Mostafa Abdelhalim</a:t>
            </a:r>
            <a:endParaRPr lang="en-EG" sz="2400" b="1" dirty="0">
              <a:solidFill>
                <a:schemeClr val="bg1">
                  <a:lumMod val="85000"/>
                </a:schemeClr>
              </a:solidFill>
              <a:latin typeface="Book Antiqua" panose="02040602050305030304" pitchFamily="18" charset="0"/>
            </a:endParaRPr>
          </a:p>
        </p:txBody>
      </p:sp>
    </p:spTree>
    <p:extLst>
      <p:ext uri="{BB962C8B-B14F-4D97-AF65-F5344CB8AC3E}">
        <p14:creationId xmlns:p14="http://schemas.microsoft.com/office/powerpoint/2010/main" val="32151619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alpha val="84827"/>
          </a:schemeClr>
        </a:solidFill>
        <a:effectLst/>
      </p:bgPr>
    </p:bg>
    <p:spTree>
      <p:nvGrpSpPr>
        <p:cNvPr id="1" name="">
          <a:extLst>
            <a:ext uri="{FF2B5EF4-FFF2-40B4-BE49-F238E27FC236}">
              <a16:creationId xmlns:a16="http://schemas.microsoft.com/office/drawing/2014/main" id="{B7D70C0C-7496-4173-D4E4-F3436D20E6C0}"/>
            </a:ext>
          </a:extLst>
        </p:cNvPr>
        <p:cNvGrpSpPr/>
        <p:nvPr/>
      </p:nvGrpSpPr>
      <p:grpSpPr>
        <a:xfrm>
          <a:off x="0" y="0"/>
          <a:ext cx="0" cy="0"/>
          <a:chOff x="0" y="0"/>
          <a:chExt cx="0" cy="0"/>
        </a:xfrm>
      </p:grpSpPr>
      <p:pic>
        <p:nvPicPr>
          <p:cNvPr id="2" name="Picture 1" descr="This may contain: two pyramids are in front of an egyptian wallpaper with hieroglyic writing">
            <a:extLst>
              <a:ext uri="{FF2B5EF4-FFF2-40B4-BE49-F238E27FC236}">
                <a16:creationId xmlns:a16="http://schemas.microsoft.com/office/drawing/2014/main" id="{F4901A35-62B6-36FE-EC27-3568DC0008EB}"/>
              </a:ext>
            </a:extLst>
          </p:cNvPr>
          <p:cNvPicPr>
            <a:picLocks noChangeAspect="1"/>
          </p:cNvPicPr>
          <p:nvPr/>
        </p:nvPicPr>
        <p:blipFill>
          <a:blip r:embed="rId2">
            <a:alphaModFix amt="71000"/>
          </a:blip>
          <a:srcRect t="25048"/>
          <a:stretch>
            <a:fillRect/>
          </a:stretch>
        </p:blipFill>
        <p:spPr>
          <a:xfrm>
            <a:off x="-67056" y="0"/>
            <a:ext cx="12259056" cy="6895719"/>
          </a:xfrm>
          <a:prstGeom prst="rect">
            <a:avLst/>
          </a:prstGeom>
          <a:effectLst>
            <a:softEdge rad="506015"/>
          </a:effectLst>
        </p:spPr>
      </p:pic>
      <p:sp>
        <p:nvSpPr>
          <p:cNvPr id="6" name="TextBox 5">
            <a:extLst>
              <a:ext uri="{FF2B5EF4-FFF2-40B4-BE49-F238E27FC236}">
                <a16:creationId xmlns:a16="http://schemas.microsoft.com/office/drawing/2014/main" id="{AF1D361B-D2B9-9513-312F-4F477CC752EB}"/>
              </a:ext>
            </a:extLst>
          </p:cNvPr>
          <p:cNvSpPr txBox="1"/>
          <p:nvPr/>
        </p:nvSpPr>
        <p:spPr>
          <a:xfrm>
            <a:off x="1280159" y="1747165"/>
            <a:ext cx="9542515" cy="2308324"/>
          </a:xfrm>
          <a:prstGeom prst="rect">
            <a:avLst/>
          </a:prstGeom>
          <a:noFill/>
        </p:spPr>
        <p:txBody>
          <a:bodyPr wrap="square">
            <a:spAutoFit/>
          </a:bodyPr>
          <a:lstStyle/>
          <a:p>
            <a:r>
              <a:rPr lang="en-US" sz="2400" b="1" dirty="0">
                <a:solidFill>
                  <a:schemeClr val="bg1">
                    <a:lumMod val="85000"/>
                  </a:schemeClr>
                </a:solidFill>
                <a:latin typeface="Book Antiqua" panose="02040602050305030304" pitchFamily="18" charset="0"/>
              </a:rPr>
              <a:t>Project Goals</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Promote Ancient Egyptian history and culture.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Provide an interactive educational experience.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Offer an organized tourism booking platform.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Allow users to explore and save historical attractions.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Deliver a responsive and visually engaging web application.</a:t>
            </a:r>
          </a:p>
        </p:txBody>
      </p:sp>
    </p:spTree>
    <p:extLst>
      <p:ext uri="{BB962C8B-B14F-4D97-AF65-F5344CB8AC3E}">
        <p14:creationId xmlns:p14="http://schemas.microsoft.com/office/powerpoint/2010/main" val="165725862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alpha val="86000"/>
          </a:schemeClr>
        </a:solidFill>
        <a:effectLst/>
      </p:bgPr>
    </p:bg>
    <p:spTree>
      <p:nvGrpSpPr>
        <p:cNvPr id="1" name="">
          <a:extLst>
            <a:ext uri="{FF2B5EF4-FFF2-40B4-BE49-F238E27FC236}">
              <a16:creationId xmlns:a16="http://schemas.microsoft.com/office/drawing/2014/main" id="{C8649DF9-A1E3-C14D-8BD7-72274EA0C471}"/>
            </a:ext>
          </a:extLst>
        </p:cNvPr>
        <p:cNvGrpSpPr/>
        <p:nvPr/>
      </p:nvGrpSpPr>
      <p:grpSpPr>
        <a:xfrm>
          <a:off x="0" y="0"/>
          <a:ext cx="0" cy="0"/>
          <a:chOff x="0" y="0"/>
          <a:chExt cx="0" cy="0"/>
        </a:xfrm>
      </p:grpSpPr>
      <p:pic>
        <p:nvPicPr>
          <p:cNvPr id="9" name="Picture 8" descr="This may contain: an ancient egyptian pattern with gold and black colors on a black background, it looks like something from the past">
            <a:extLst>
              <a:ext uri="{FF2B5EF4-FFF2-40B4-BE49-F238E27FC236}">
                <a16:creationId xmlns:a16="http://schemas.microsoft.com/office/drawing/2014/main" id="{41ECCCDB-90D9-AFC7-0160-92A55C1A3F20}"/>
              </a:ext>
            </a:extLst>
          </p:cNvPr>
          <p:cNvPicPr>
            <a:picLocks noChangeAspect="1"/>
          </p:cNvPicPr>
          <p:nvPr/>
        </p:nvPicPr>
        <p:blipFill>
          <a:blip r:embed="rId2">
            <a:alphaModFix amt="34000"/>
          </a:blip>
          <a:stretch>
            <a:fillRect/>
          </a:stretch>
        </p:blipFill>
        <p:spPr>
          <a:xfrm rot="5400000">
            <a:off x="2699289" y="-2699289"/>
            <a:ext cx="6953446" cy="12352024"/>
          </a:xfrm>
          <a:prstGeom prst="rect">
            <a:avLst/>
          </a:prstGeom>
        </p:spPr>
      </p:pic>
      <p:sp>
        <p:nvSpPr>
          <p:cNvPr id="4" name="TextBox 3">
            <a:extLst>
              <a:ext uri="{FF2B5EF4-FFF2-40B4-BE49-F238E27FC236}">
                <a16:creationId xmlns:a16="http://schemas.microsoft.com/office/drawing/2014/main" id="{A231DE12-B12F-29DF-3392-20DCF9DE6AE1}"/>
              </a:ext>
            </a:extLst>
          </p:cNvPr>
          <p:cNvSpPr txBox="1"/>
          <p:nvPr/>
        </p:nvSpPr>
        <p:spPr>
          <a:xfrm>
            <a:off x="11430000" y="1911927"/>
            <a:ext cx="184731" cy="369332"/>
          </a:xfrm>
          <a:prstGeom prst="rect">
            <a:avLst/>
          </a:prstGeom>
          <a:noFill/>
        </p:spPr>
        <p:txBody>
          <a:bodyPr wrap="square" rtlCol="0">
            <a:spAutoFit/>
          </a:bodyPr>
          <a:lstStyle/>
          <a:p>
            <a:endParaRPr lang="en-EG" dirty="0"/>
          </a:p>
        </p:txBody>
      </p:sp>
      <p:sp>
        <p:nvSpPr>
          <p:cNvPr id="10" name="TextBox 9">
            <a:extLst>
              <a:ext uri="{FF2B5EF4-FFF2-40B4-BE49-F238E27FC236}">
                <a16:creationId xmlns:a16="http://schemas.microsoft.com/office/drawing/2014/main" id="{A933B4C4-7CA7-70D6-9091-88449783B098}"/>
              </a:ext>
            </a:extLst>
          </p:cNvPr>
          <p:cNvSpPr txBox="1"/>
          <p:nvPr/>
        </p:nvSpPr>
        <p:spPr>
          <a:xfrm>
            <a:off x="316571" y="619875"/>
            <a:ext cx="1915631" cy="646331"/>
          </a:xfrm>
          <a:prstGeom prst="rect">
            <a:avLst/>
          </a:prstGeom>
          <a:noFill/>
        </p:spPr>
        <p:txBody>
          <a:bodyPr wrap="square">
            <a:spAutoFit/>
          </a:bodyPr>
          <a:lstStyle/>
          <a:p>
            <a:pPr algn="ctr"/>
            <a:r>
              <a:rPr lang="en-US" sz="3600" b="1" dirty="0">
                <a:solidFill>
                  <a:schemeClr val="bg1"/>
                </a:solidFill>
                <a:latin typeface="Felix Titling" pitchFamily="82" charset="77"/>
              </a:rPr>
              <a:t>ERD</a:t>
            </a:r>
            <a:endParaRPr lang="en-EG" sz="3600" b="1" dirty="0">
              <a:solidFill>
                <a:schemeClr val="bg1"/>
              </a:solidFill>
              <a:latin typeface="Felix Titling" pitchFamily="82" charset="77"/>
            </a:endParaRPr>
          </a:p>
        </p:txBody>
      </p:sp>
      <p:pic>
        <p:nvPicPr>
          <p:cNvPr id="3" name="Picture 2">
            <a:extLst>
              <a:ext uri="{FF2B5EF4-FFF2-40B4-BE49-F238E27FC236}">
                <a16:creationId xmlns:a16="http://schemas.microsoft.com/office/drawing/2014/main" id="{F319FB66-C2BD-7FAF-EE29-58D83844F01F}"/>
              </a:ext>
            </a:extLst>
          </p:cNvPr>
          <p:cNvPicPr>
            <a:picLocks noChangeAspect="1"/>
          </p:cNvPicPr>
          <p:nvPr/>
        </p:nvPicPr>
        <p:blipFill>
          <a:blip r:embed="rId3"/>
          <a:stretch>
            <a:fillRect/>
          </a:stretch>
        </p:blipFill>
        <p:spPr>
          <a:xfrm>
            <a:off x="2974899" y="340460"/>
            <a:ext cx="7772400" cy="6177079"/>
          </a:xfrm>
          <a:prstGeom prst="rect">
            <a:avLst/>
          </a:prstGeom>
        </p:spPr>
      </p:pic>
    </p:spTree>
    <p:extLst>
      <p:ext uri="{BB962C8B-B14F-4D97-AF65-F5344CB8AC3E}">
        <p14:creationId xmlns:p14="http://schemas.microsoft.com/office/powerpoint/2010/main" val="250720989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87113"/>
          </a:schemeClr>
        </a:solidFill>
        <a:effectLst/>
      </p:bgPr>
    </p:bg>
    <p:spTree>
      <p:nvGrpSpPr>
        <p:cNvPr id="1" name="">
          <a:extLst>
            <a:ext uri="{FF2B5EF4-FFF2-40B4-BE49-F238E27FC236}">
              <a16:creationId xmlns:a16="http://schemas.microsoft.com/office/drawing/2014/main" id="{9B07E98D-93AE-B387-25FE-9BED21DBE073}"/>
            </a:ext>
          </a:extLst>
        </p:cNvPr>
        <p:cNvGrpSpPr/>
        <p:nvPr/>
      </p:nvGrpSpPr>
      <p:grpSpPr>
        <a:xfrm>
          <a:off x="0" y="0"/>
          <a:ext cx="0" cy="0"/>
          <a:chOff x="0" y="0"/>
          <a:chExt cx="0" cy="0"/>
        </a:xfrm>
      </p:grpSpPr>
      <p:pic>
        <p:nvPicPr>
          <p:cNvPr id="9" name="Picture 8" descr="This may contain: an ancient egyptian pattern with gold and black colors on a black background, it looks like something from the past">
            <a:extLst>
              <a:ext uri="{FF2B5EF4-FFF2-40B4-BE49-F238E27FC236}">
                <a16:creationId xmlns:a16="http://schemas.microsoft.com/office/drawing/2014/main" id="{EFE55AE8-7B21-A343-1C2F-068CE54EDF88}"/>
              </a:ext>
            </a:extLst>
          </p:cNvPr>
          <p:cNvPicPr>
            <a:picLocks noChangeAspect="1"/>
          </p:cNvPicPr>
          <p:nvPr/>
        </p:nvPicPr>
        <p:blipFill>
          <a:blip r:embed="rId2">
            <a:alphaModFix amt="34000"/>
          </a:blip>
          <a:stretch>
            <a:fillRect/>
          </a:stretch>
        </p:blipFill>
        <p:spPr>
          <a:xfrm rot="5400000">
            <a:off x="2731454" y="-2653240"/>
            <a:ext cx="6953446" cy="12352024"/>
          </a:xfrm>
          <a:prstGeom prst="rect">
            <a:avLst/>
          </a:prstGeom>
        </p:spPr>
      </p:pic>
      <p:sp>
        <p:nvSpPr>
          <p:cNvPr id="4" name="TextBox 3">
            <a:extLst>
              <a:ext uri="{FF2B5EF4-FFF2-40B4-BE49-F238E27FC236}">
                <a16:creationId xmlns:a16="http://schemas.microsoft.com/office/drawing/2014/main" id="{3F2B3846-700E-BC58-1E52-4690CBD19C75}"/>
              </a:ext>
            </a:extLst>
          </p:cNvPr>
          <p:cNvSpPr txBox="1"/>
          <p:nvPr/>
        </p:nvSpPr>
        <p:spPr>
          <a:xfrm>
            <a:off x="11430000" y="1911927"/>
            <a:ext cx="184731" cy="369332"/>
          </a:xfrm>
          <a:prstGeom prst="rect">
            <a:avLst/>
          </a:prstGeom>
          <a:noFill/>
        </p:spPr>
        <p:txBody>
          <a:bodyPr wrap="square" rtlCol="0">
            <a:spAutoFit/>
          </a:bodyPr>
          <a:lstStyle/>
          <a:p>
            <a:endParaRPr lang="en-EG" dirty="0"/>
          </a:p>
        </p:txBody>
      </p:sp>
      <p:sp>
        <p:nvSpPr>
          <p:cNvPr id="10" name="TextBox 9">
            <a:extLst>
              <a:ext uri="{FF2B5EF4-FFF2-40B4-BE49-F238E27FC236}">
                <a16:creationId xmlns:a16="http://schemas.microsoft.com/office/drawing/2014/main" id="{4AA4592C-02F6-55C2-8E20-AFE92E115C4C}"/>
              </a:ext>
            </a:extLst>
          </p:cNvPr>
          <p:cNvSpPr txBox="1"/>
          <p:nvPr/>
        </p:nvSpPr>
        <p:spPr>
          <a:xfrm>
            <a:off x="316571" y="619875"/>
            <a:ext cx="2731429" cy="1200329"/>
          </a:xfrm>
          <a:prstGeom prst="rect">
            <a:avLst/>
          </a:prstGeom>
          <a:noFill/>
        </p:spPr>
        <p:txBody>
          <a:bodyPr wrap="square">
            <a:spAutoFit/>
          </a:bodyPr>
          <a:lstStyle/>
          <a:p>
            <a:pPr algn="ctr"/>
            <a:r>
              <a:rPr lang="en-US" sz="3600" b="1" dirty="0">
                <a:solidFill>
                  <a:schemeClr val="bg1"/>
                </a:solidFill>
                <a:latin typeface="Felix Titling" pitchFamily="82" charset="77"/>
              </a:rPr>
              <a:t>FLOW diagram</a:t>
            </a:r>
            <a:endParaRPr lang="en-EG" sz="3600" b="1" dirty="0">
              <a:solidFill>
                <a:schemeClr val="bg1"/>
              </a:solidFill>
              <a:latin typeface="Felix Titling" pitchFamily="82" charset="77"/>
            </a:endParaRPr>
          </a:p>
        </p:txBody>
      </p:sp>
      <p:pic>
        <p:nvPicPr>
          <p:cNvPr id="14" name="Picture 13">
            <a:extLst>
              <a:ext uri="{FF2B5EF4-FFF2-40B4-BE49-F238E27FC236}">
                <a16:creationId xmlns:a16="http://schemas.microsoft.com/office/drawing/2014/main" id="{6074C6BC-6B7F-D76F-F1E7-4EF2265C2437}"/>
              </a:ext>
            </a:extLst>
          </p:cNvPr>
          <p:cNvPicPr>
            <a:picLocks noChangeAspect="1"/>
          </p:cNvPicPr>
          <p:nvPr/>
        </p:nvPicPr>
        <p:blipFill>
          <a:blip r:embed="rId3"/>
          <a:srcRect t="28758"/>
          <a:stretch>
            <a:fillRect/>
          </a:stretch>
        </p:blipFill>
        <p:spPr>
          <a:xfrm>
            <a:off x="4918004" y="5499906"/>
            <a:ext cx="5596174" cy="905478"/>
          </a:xfrm>
          <a:prstGeom prst="rect">
            <a:avLst/>
          </a:prstGeom>
        </p:spPr>
      </p:pic>
      <p:pic>
        <p:nvPicPr>
          <p:cNvPr id="16" name="Picture 15">
            <a:extLst>
              <a:ext uri="{FF2B5EF4-FFF2-40B4-BE49-F238E27FC236}">
                <a16:creationId xmlns:a16="http://schemas.microsoft.com/office/drawing/2014/main" id="{438C301E-0815-9D11-EF24-DB2171E007C5}"/>
              </a:ext>
            </a:extLst>
          </p:cNvPr>
          <p:cNvPicPr>
            <a:picLocks noChangeAspect="1"/>
          </p:cNvPicPr>
          <p:nvPr/>
        </p:nvPicPr>
        <p:blipFill>
          <a:blip r:embed="rId4"/>
          <a:stretch>
            <a:fillRect/>
          </a:stretch>
        </p:blipFill>
        <p:spPr>
          <a:xfrm>
            <a:off x="4918006" y="2938618"/>
            <a:ext cx="5596173" cy="2561288"/>
          </a:xfrm>
          <a:prstGeom prst="rect">
            <a:avLst/>
          </a:prstGeom>
        </p:spPr>
      </p:pic>
      <p:pic>
        <p:nvPicPr>
          <p:cNvPr id="18" name="Picture 17">
            <a:extLst>
              <a:ext uri="{FF2B5EF4-FFF2-40B4-BE49-F238E27FC236}">
                <a16:creationId xmlns:a16="http://schemas.microsoft.com/office/drawing/2014/main" id="{302FB51C-5418-EC20-1308-56376E4A2DBF}"/>
              </a:ext>
            </a:extLst>
          </p:cNvPr>
          <p:cNvPicPr>
            <a:picLocks noChangeAspect="1"/>
          </p:cNvPicPr>
          <p:nvPr/>
        </p:nvPicPr>
        <p:blipFill>
          <a:blip r:embed="rId5"/>
          <a:stretch>
            <a:fillRect/>
          </a:stretch>
        </p:blipFill>
        <p:spPr>
          <a:xfrm>
            <a:off x="4918008" y="377330"/>
            <a:ext cx="5596173" cy="2561288"/>
          </a:xfrm>
          <a:prstGeom prst="rect">
            <a:avLst/>
          </a:prstGeom>
        </p:spPr>
      </p:pic>
    </p:spTree>
    <p:extLst>
      <p:ext uri="{BB962C8B-B14F-4D97-AF65-F5344CB8AC3E}">
        <p14:creationId xmlns:p14="http://schemas.microsoft.com/office/powerpoint/2010/main" val="151409197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alpha val="62294"/>
          </a:schemeClr>
        </a:solidFill>
        <a:effectLst/>
      </p:bgPr>
    </p:bg>
    <p:spTree>
      <p:nvGrpSpPr>
        <p:cNvPr id="1" name="">
          <a:extLst>
            <a:ext uri="{FF2B5EF4-FFF2-40B4-BE49-F238E27FC236}">
              <a16:creationId xmlns:a16="http://schemas.microsoft.com/office/drawing/2014/main" id="{FD9805C1-0860-0DD0-7454-4A5F719E8DE3}"/>
            </a:ext>
          </a:extLst>
        </p:cNvPr>
        <p:cNvGrpSpPr/>
        <p:nvPr/>
      </p:nvGrpSpPr>
      <p:grpSpPr>
        <a:xfrm>
          <a:off x="0" y="0"/>
          <a:ext cx="0" cy="0"/>
          <a:chOff x="0" y="0"/>
          <a:chExt cx="0" cy="0"/>
        </a:xfrm>
      </p:grpSpPr>
      <p:pic>
        <p:nvPicPr>
          <p:cNvPr id="34" name="Picture 33" descr="This may contain: an egyptian room with statues and paintings on the walls">
            <a:extLst>
              <a:ext uri="{FF2B5EF4-FFF2-40B4-BE49-F238E27FC236}">
                <a16:creationId xmlns:a16="http://schemas.microsoft.com/office/drawing/2014/main" id="{48E24C90-6F6C-217C-7E02-0E49FDDED440}"/>
              </a:ext>
            </a:extLst>
          </p:cNvPr>
          <p:cNvPicPr>
            <a:picLocks noChangeAspect="1"/>
          </p:cNvPicPr>
          <p:nvPr/>
        </p:nvPicPr>
        <p:blipFill>
          <a:blip r:embed="rId2">
            <a:alphaModFix/>
          </a:blip>
          <a:stretch>
            <a:fillRect/>
          </a:stretch>
        </p:blipFill>
        <p:spPr>
          <a:xfrm>
            <a:off x="32332" y="0"/>
            <a:ext cx="12191999" cy="6767285"/>
          </a:xfrm>
          <a:prstGeom prst="rect">
            <a:avLst/>
          </a:prstGeom>
          <a:effectLst>
            <a:softEdge rad="377866"/>
          </a:effectLst>
        </p:spPr>
      </p:pic>
      <p:sp useBgFill="1">
        <p:nvSpPr>
          <p:cNvPr id="23" name="Rectangle 22">
            <a:extLst>
              <a:ext uri="{FF2B5EF4-FFF2-40B4-BE49-F238E27FC236}">
                <a16:creationId xmlns:a16="http://schemas.microsoft.com/office/drawing/2014/main" id="{854EC7DD-B6A2-6A3F-F59E-CD6511124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1AED7CE-8A55-7392-0DB0-17F64E2AD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A4A635A-0570-0965-4C22-BE7F0A32A2CE}"/>
              </a:ext>
            </a:extLst>
          </p:cNvPr>
          <p:cNvSpPr txBox="1"/>
          <p:nvPr/>
        </p:nvSpPr>
        <p:spPr>
          <a:xfrm>
            <a:off x="2803910" y="744868"/>
            <a:ext cx="6500000" cy="135147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kern="1200" dirty="0">
                <a:solidFill>
                  <a:schemeClr val="bg1">
                    <a:lumMod val="85000"/>
                  </a:schemeClr>
                </a:solidFill>
                <a:latin typeface="Book Antiqua" panose="02040602050305030304" pitchFamily="18" charset="0"/>
                <a:ea typeface="+mj-ea"/>
                <a:cs typeface="+mj-cs"/>
              </a:rPr>
              <a:t>Authentication  &amp;</a:t>
            </a:r>
            <a:r>
              <a:rPr lang="en-US" sz="4400" dirty="0"/>
              <a:t xml:space="preserve"> </a:t>
            </a:r>
            <a:r>
              <a:rPr lang="en-US" sz="4400" b="1" kern="1200" dirty="0">
                <a:solidFill>
                  <a:schemeClr val="bg1">
                    <a:lumMod val="85000"/>
                  </a:schemeClr>
                </a:solidFill>
                <a:latin typeface="Book Antiqua" panose="02040602050305030304" pitchFamily="18" charset="0"/>
                <a:ea typeface="+mj-ea"/>
                <a:cs typeface="+mj-cs"/>
              </a:rPr>
              <a:t>System</a:t>
            </a:r>
          </a:p>
        </p:txBody>
      </p:sp>
      <p:sp>
        <p:nvSpPr>
          <p:cNvPr id="16" name="TextBox 15">
            <a:extLst>
              <a:ext uri="{FF2B5EF4-FFF2-40B4-BE49-F238E27FC236}">
                <a16:creationId xmlns:a16="http://schemas.microsoft.com/office/drawing/2014/main" id="{AE132B7D-96BF-D0EF-31B2-95B9E2C96DA6}"/>
              </a:ext>
            </a:extLst>
          </p:cNvPr>
          <p:cNvSpPr txBox="1"/>
          <p:nvPr/>
        </p:nvSpPr>
        <p:spPr>
          <a:xfrm>
            <a:off x="2065570" y="2694618"/>
            <a:ext cx="8125522" cy="3680911"/>
          </a:xfrm>
          <a:prstGeom prst="rect">
            <a:avLst/>
          </a:prstGeom>
        </p:spPr>
        <p:txBody>
          <a:bodyPr vert="horz" lIns="91440" tIns="45720" rIns="91440" bIns="45720" rtlCol="0">
            <a:noAutofit/>
          </a:bodyPr>
          <a:lstStyle/>
          <a:p>
            <a:pPr algn="ctr">
              <a:lnSpc>
                <a:spcPct val="90000"/>
              </a:lnSpc>
              <a:spcAft>
                <a:spcPts val="600"/>
              </a:spcAft>
            </a:pPr>
            <a:r>
              <a:rPr lang="en-US" sz="1600" b="1" dirty="0">
                <a:solidFill>
                  <a:schemeClr val="bg1">
                    <a:lumMod val="85000"/>
                  </a:schemeClr>
                </a:solidFill>
                <a:latin typeface="Book Antiqua" panose="02040602050305030304" pitchFamily="18" charset="0"/>
              </a:rPr>
              <a:t>The platform includes a complete user authentication system with:</a:t>
            </a:r>
            <a:br>
              <a:rPr lang="en-US" sz="1600" b="1" dirty="0">
                <a:solidFill>
                  <a:schemeClr val="bg1">
                    <a:lumMod val="85000"/>
                  </a:schemeClr>
                </a:solidFill>
                <a:latin typeface="Book Antiqua" panose="02040602050305030304" pitchFamily="18" charset="0"/>
              </a:rPr>
            </a:br>
            <a:r>
              <a:rPr lang="en-US" sz="1600" b="1" dirty="0">
                <a:solidFill>
                  <a:schemeClr val="bg1">
                    <a:lumMod val="85000"/>
                  </a:schemeClr>
                </a:solidFill>
                <a:latin typeface="Book Antiqua" panose="02040602050305030304" pitchFamily="18" charset="0"/>
              </a:rPr>
              <a:t xml:space="preserve">User Registration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User Login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Guest Access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Logout Functionality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Session-based Authentication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Password Validation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Password Strength Indicator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Show/Hide Password Feature </a:t>
            </a:r>
          </a:p>
          <a:p>
            <a:pPr algn="ctr">
              <a:lnSpc>
                <a:spcPct val="90000"/>
              </a:lnSpc>
              <a:spcAft>
                <a:spcPts val="600"/>
              </a:spcAft>
            </a:pPr>
            <a:r>
              <a:rPr lang="en-US" sz="1600" b="1" dirty="0">
                <a:solidFill>
                  <a:schemeClr val="bg1">
                    <a:lumMod val="85000"/>
                  </a:schemeClr>
                </a:solidFill>
                <a:latin typeface="Book Antiqua" panose="02040602050305030304" pitchFamily="18" charset="0"/>
              </a:rPr>
              <a:t xml:space="preserve">Confirm Password Validation </a:t>
            </a:r>
          </a:p>
          <a:p>
            <a:pPr algn="ctr">
              <a:lnSpc>
                <a:spcPct val="90000"/>
              </a:lnSpc>
              <a:spcAft>
                <a:spcPts val="600"/>
              </a:spcAft>
            </a:pPr>
            <a:endParaRPr lang="en-US" sz="1600" b="1" dirty="0">
              <a:solidFill>
                <a:schemeClr val="bg1">
                  <a:lumMod val="85000"/>
                </a:schemeClr>
              </a:solidFill>
              <a:latin typeface="Book Antiqua" panose="02040602050305030304" pitchFamily="18" charset="0"/>
            </a:endParaRPr>
          </a:p>
          <a:p>
            <a:pPr algn="ctr">
              <a:lnSpc>
                <a:spcPct val="90000"/>
              </a:lnSpc>
              <a:spcAft>
                <a:spcPts val="600"/>
              </a:spcAft>
            </a:pPr>
            <a:r>
              <a:rPr lang="en-US" sz="1600" b="1" dirty="0">
                <a:solidFill>
                  <a:schemeClr val="bg1">
                    <a:lumMod val="85000"/>
                  </a:schemeClr>
                </a:solidFill>
                <a:latin typeface="Book Antiqua" panose="02040602050305030304" pitchFamily="18" charset="0"/>
              </a:rPr>
              <a:t>- Guests have limited access and cannot use protected features like bookings and favorites.</a:t>
            </a:r>
          </a:p>
        </p:txBody>
      </p:sp>
      <p:sp>
        <p:nvSpPr>
          <p:cNvPr id="24" name="Oval 23">
            <a:extLst>
              <a:ext uri="{FF2B5EF4-FFF2-40B4-BE49-F238E27FC236}">
                <a16:creationId xmlns:a16="http://schemas.microsoft.com/office/drawing/2014/main" id="{163A09E3-CA31-2BBA-F21A-DEB09CEC66D1}"/>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D5F14CE7-EAE4-F4D2-D3F7-A4677B486A0A}"/>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6870CF24-61EE-C7CF-FCC7-85C25CBBB3FB}"/>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352262648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alpha val="62294"/>
          </a:schemeClr>
        </a:solidFill>
        <a:effectLst/>
      </p:bgPr>
    </p:bg>
    <p:spTree>
      <p:nvGrpSpPr>
        <p:cNvPr id="1" name="">
          <a:extLst>
            <a:ext uri="{FF2B5EF4-FFF2-40B4-BE49-F238E27FC236}">
              <a16:creationId xmlns:a16="http://schemas.microsoft.com/office/drawing/2014/main" id="{5D68CE0D-6323-8058-4251-EEDD8D7B8827}"/>
            </a:ext>
          </a:extLst>
        </p:cNvPr>
        <p:cNvGrpSpPr/>
        <p:nvPr/>
      </p:nvGrpSpPr>
      <p:grpSpPr>
        <a:xfrm>
          <a:off x="0" y="0"/>
          <a:ext cx="0" cy="0"/>
          <a:chOff x="0" y="0"/>
          <a:chExt cx="0" cy="0"/>
        </a:xfrm>
      </p:grpSpPr>
      <p:pic>
        <p:nvPicPr>
          <p:cNvPr id="34" name="Picture 33" descr="This may contain: an egyptian room with statues and paintings on the walls">
            <a:extLst>
              <a:ext uri="{FF2B5EF4-FFF2-40B4-BE49-F238E27FC236}">
                <a16:creationId xmlns:a16="http://schemas.microsoft.com/office/drawing/2014/main" id="{222D0D3D-6C56-600B-72AB-D7673D6184BA}"/>
              </a:ext>
            </a:extLst>
          </p:cNvPr>
          <p:cNvPicPr>
            <a:picLocks noChangeAspect="1"/>
          </p:cNvPicPr>
          <p:nvPr/>
        </p:nvPicPr>
        <p:blipFill>
          <a:blip r:embed="rId2">
            <a:alphaModFix/>
          </a:blip>
          <a:stretch>
            <a:fillRect/>
          </a:stretch>
        </p:blipFill>
        <p:spPr>
          <a:xfrm>
            <a:off x="32332" y="0"/>
            <a:ext cx="12191999" cy="6767285"/>
          </a:xfrm>
          <a:prstGeom prst="rect">
            <a:avLst/>
          </a:prstGeom>
          <a:effectLst>
            <a:softEdge rad="377866"/>
          </a:effectLst>
        </p:spPr>
      </p:pic>
      <p:sp useBgFill="1">
        <p:nvSpPr>
          <p:cNvPr id="23" name="Rectangle 22">
            <a:extLst>
              <a:ext uri="{FF2B5EF4-FFF2-40B4-BE49-F238E27FC236}">
                <a16:creationId xmlns:a16="http://schemas.microsoft.com/office/drawing/2014/main" id="{FCD40769-D87A-11C7-1938-2451EFEA2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43A2A68-481A-2274-63A4-57A335CB2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1844955-BA4A-BC1F-82E9-6DB97D802BD7}"/>
              </a:ext>
            </a:extLst>
          </p:cNvPr>
          <p:cNvSpPr txBox="1"/>
          <p:nvPr/>
        </p:nvSpPr>
        <p:spPr>
          <a:xfrm>
            <a:off x="3920310" y="744868"/>
            <a:ext cx="4267200" cy="1351472"/>
          </a:xfrm>
          <a:prstGeom prst="rect">
            <a:avLst/>
          </a:prstGeom>
        </p:spPr>
        <p:txBody>
          <a:bodyPr vert="horz" lIns="91440" tIns="45720" rIns="91440" bIns="45720" rtlCol="0" anchor="ctr">
            <a:normAutofit lnSpcReduction="10000"/>
          </a:bodyPr>
          <a:lstStyle/>
          <a:p>
            <a:pPr algn="ctr">
              <a:lnSpc>
                <a:spcPct val="90000"/>
              </a:lnSpc>
              <a:spcBef>
                <a:spcPct val="0"/>
              </a:spcBef>
              <a:spcAft>
                <a:spcPts val="600"/>
              </a:spcAft>
            </a:pPr>
            <a:r>
              <a:rPr lang="en-US" sz="4400" b="1" dirty="0">
                <a:solidFill>
                  <a:schemeClr val="bg1">
                    <a:lumMod val="85000"/>
                  </a:schemeClr>
                </a:solidFill>
                <a:latin typeface="Book Antiqua" panose="02040602050305030304" pitchFamily="18" charset="0"/>
              </a:rPr>
              <a:t>Authorization</a:t>
            </a:r>
            <a:endParaRPr lang="en-US" b="1" dirty="0">
              <a:solidFill>
                <a:schemeClr val="bg1">
                  <a:lumMod val="85000"/>
                </a:schemeClr>
              </a:solidFill>
              <a:latin typeface="Book Antiqua" panose="02040602050305030304" pitchFamily="18" charset="0"/>
            </a:endParaRPr>
          </a:p>
          <a:p>
            <a:pPr algn="ctr">
              <a:lnSpc>
                <a:spcPct val="90000"/>
              </a:lnSpc>
              <a:spcBef>
                <a:spcPct val="0"/>
              </a:spcBef>
              <a:spcAft>
                <a:spcPts val="600"/>
              </a:spcAft>
            </a:pPr>
            <a:r>
              <a:rPr lang="en-US" sz="4400" b="1" kern="1200" dirty="0">
                <a:solidFill>
                  <a:schemeClr val="bg1">
                    <a:lumMod val="85000"/>
                  </a:schemeClr>
                </a:solidFill>
                <a:latin typeface="Book Antiqua" panose="02040602050305030304" pitchFamily="18" charset="0"/>
                <a:ea typeface="+mj-ea"/>
                <a:cs typeface="+mj-cs"/>
              </a:rPr>
              <a:t xml:space="preserve">  &amp;</a:t>
            </a:r>
            <a:r>
              <a:rPr lang="en-US" sz="4400" dirty="0">
                <a:solidFill>
                  <a:schemeClr val="bg1">
                    <a:lumMod val="85000"/>
                  </a:schemeClr>
                </a:solidFill>
              </a:rPr>
              <a:t xml:space="preserve"> </a:t>
            </a:r>
            <a:r>
              <a:rPr lang="en-US" sz="4400" b="1" kern="1200" dirty="0">
                <a:solidFill>
                  <a:schemeClr val="bg1">
                    <a:lumMod val="85000"/>
                  </a:schemeClr>
                </a:solidFill>
                <a:latin typeface="Book Antiqua" panose="02040602050305030304" pitchFamily="18" charset="0"/>
                <a:ea typeface="+mj-ea"/>
                <a:cs typeface="+mj-cs"/>
              </a:rPr>
              <a:t>System</a:t>
            </a:r>
          </a:p>
        </p:txBody>
      </p:sp>
      <p:sp>
        <p:nvSpPr>
          <p:cNvPr id="16" name="TextBox 15">
            <a:extLst>
              <a:ext uri="{FF2B5EF4-FFF2-40B4-BE49-F238E27FC236}">
                <a16:creationId xmlns:a16="http://schemas.microsoft.com/office/drawing/2014/main" id="{A7CE71B5-DD44-9315-6F4E-0F60E69343AB}"/>
              </a:ext>
            </a:extLst>
          </p:cNvPr>
          <p:cNvSpPr txBox="1"/>
          <p:nvPr/>
        </p:nvSpPr>
        <p:spPr>
          <a:xfrm>
            <a:off x="2065570" y="2656518"/>
            <a:ext cx="8125522" cy="3756979"/>
          </a:xfrm>
          <a:prstGeom prst="rect">
            <a:avLst/>
          </a:prstGeom>
        </p:spPr>
        <p:txBody>
          <a:bodyPr vert="horz" lIns="91440" tIns="45720" rIns="91440" bIns="45720" rtlCol="0">
            <a:noAutofit/>
          </a:bodyPr>
          <a:lstStyle/>
          <a:p>
            <a:pPr algn="ctr"/>
            <a:r>
              <a:rPr lang="en-US" sz="1600" b="1" dirty="0">
                <a:solidFill>
                  <a:schemeClr val="bg1">
                    <a:lumMod val="85000"/>
                  </a:schemeClr>
                </a:solidFill>
                <a:latin typeface="Book Antiqua" panose="02040602050305030304" pitchFamily="18" charset="0"/>
              </a:rPr>
              <a:t>The system controls what users can access after login.</a:t>
            </a:r>
          </a:p>
          <a:p>
            <a:pPr algn="ctr"/>
            <a:r>
              <a:rPr lang="en-US" sz="1600" b="1" dirty="0">
                <a:solidFill>
                  <a:schemeClr val="bg1">
                    <a:lumMod val="85000"/>
                  </a:schemeClr>
                </a:solidFill>
                <a:latin typeface="Book Antiqua" panose="02040602050305030304" pitchFamily="18" charset="0"/>
              </a:rPr>
              <a:t>Only authenticated users can access protected features.</a:t>
            </a:r>
          </a:p>
          <a:p>
            <a:pPr marL="285750" indent="-285750" algn="ctr">
              <a:buFont typeface="Arial" panose="020B0604020202020204" pitchFamily="34" charset="0"/>
              <a:buChar char="•"/>
            </a:pPr>
            <a:r>
              <a:rPr lang="en-US" sz="1600" b="1" dirty="0">
                <a:solidFill>
                  <a:schemeClr val="bg1">
                    <a:lumMod val="85000"/>
                  </a:schemeClr>
                </a:solidFill>
                <a:latin typeface="Book Antiqua" panose="02040602050305030304" pitchFamily="18" charset="0"/>
              </a:rPr>
              <a:t>Registered users can:</a:t>
            </a:r>
          </a:p>
          <a:p>
            <a:pPr algn="ctr"/>
            <a:r>
              <a:rPr lang="en-US" sz="1600" b="1" dirty="0">
                <a:solidFill>
                  <a:schemeClr val="bg1">
                    <a:lumMod val="85000"/>
                  </a:schemeClr>
                </a:solidFill>
                <a:latin typeface="Book Antiqua" panose="02040602050305030304" pitchFamily="18" charset="0"/>
              </a:rPr>
              <a:t>Create bookings</a:t>
            </a:r>
          </a:p>
          <a:p>
            <a:pPr algn="ctr"/>
            <a:r>
              <a:rPr lang="en-US" sz="1600" b="1" dirty="0">
                <a:solidFill>
                  <a:schemeClr val="bg1">
                    <a:lumMod val="85000"/>
                  </a:schemeClr>
                </a:solidFill>
                <a:latin typeface="Book Antiqua" panose="02040602050305030304" pitchFamily="18" charset="0"/>
              </a:rPr>
              <a:t>Add items to favorites</a:t>
            </a:r>
          </a:p>
          <a:p>
            <a:pPr algn="ctr"/>
            <a:r>
              <a:rPr lang="en-US" sz="1600" b="1" dirty="0">
                <a:solidFill>
                  <a:schemeClr val="bg1">
                    <a:lumMod val="85000"/>
                  </a:schemeClr>
                </a:solidFill>
                <a:latin typeface="Book Antiqua" panose="02040602050305030304" pitchFamily="18" charset="0"/>
              </a:rPr>
              <a:t>View booking history</a:t>
            </a:r>
          </a:p>
          <a:p>
            <a:pPr marL="285750" indent="-285750" algn="ctr">
              <a:buFont typeface="Arial" panose="020B0604020202020204" pitchFamily="34" charset="0"/>
              <a:buChar char="•"/>
            </a:pPr>
            <a:r>
              <a:rPr lang="en-US" sz="1600" b="1" dirty="0">
                <a:solidFill>
                  <a:schemeClr val="bg1">
                    <a:lumMod val="85000"/>
                  </a:schemeClr>
                </a:solidFill>
                <a:latin typeface="Book Antiqua" panose="02040602050305030304" pitchFamily="18" charset="0"/>
              </a:rPr>
              <a:t>Guests can:</a:t>
            </a:r>
          </a:p>
          <a:p>
            <a:pPr algn="ctr"/>
            <a:r>
              <a:rPr lang="en-US" sz="1600" b="1" dirty="0">
                <a:solidFill>
                  <a:schemeClr val="bg1">
                    <a:lumMod val="85000"/>
                  </a:schemeClr>
                </a:solidFill>
                <a:latin typeface="Book Antiqua" panose="02040602050305030304" pitchFamily="18" charset="0"/>
              </a:rPr>
              <a:t>Browse temples, museums, gods, etc.</a:t>
            </a:r>
          </a:p>
          <a:p>
            <a:pPr algn="ctr"/>
            <a:r>
              <a:rPr lang="en-US" sz="1600" b="1" dirty="0">
                <a:solidFill>
                  <a:schemeClr val="bg1">
                    <a:lumMod val="85000"/>
                  </a:schemeClr>
                </a:solidFill>
                <a:latin typeface="Book Antiqua" panose="02040602050305030304" pitchFamily="18" charset="0"/>
              </a:rPr>
              <a:t>View general content only</a:t>
            </a:r>
          </a:p>
          <a:p>
            <a:pPr marL="285750" indent="-285750" algn="ctr">
              <a:buFont typeface="Arial" panose="020B0604020202020204" pitchFamily="34" charset="0"/>
              <a:buChar char="•"/>
            </a:pPr>
            <a:r>
              <a:rPr lang="en-US" sz="1600" b="1" dirty="0">
                <a:solidFill>
                  <a:schemeClr val="bg1">
                    <a:lumMod val="85000"/>
                  </a:schemeClr>
                </a:solidFill>
                <a:latin typeface="Book Antiqua" panose="02040602050305030304" pitchFamily="18" charset="0"/>
              </a:rPr>
              <a:t>Guests cannot:</a:t>
            </a:r>
          </a:p>
          <a:p>
            <a:pPr algn="ctr"/>
            <a:r>
              <a:rPr lang="en-US" sz="1600" b="1" dirty="0">
                <a:solidFill>
                  <a:schemeClr val="bg1">
                    <a:lumMod val="85000"/>
                  </a:schemeClr>
                </a:solidFill>
                <a:latin typeface="Book Antiqua" panose="02040602050305030304" pitchFamily="18" charset="0"/>
              </a:rPr>
              <a:t>Make bookings</a:t>
            </a:r>
          </a:p>
          <a:p>
            <a:pPr algn="ctr"/>
            <a:r>
              <a:rPr lang="en-US" sz="1600" b="1" dirty="0">
                <a:solidFill>
                  <a:schemeClr val="bg1">
                    <a:lumMod val="85000"/>
                  </a:schemeClr>
                </a:solidFill>
                <a:latin typeface="Book Antiqua" panose="02040602050305030304" pitchFamily="18" charset="0"/>
              </a:rPr>
              <a:t>Add favorites</a:t>
            </a:r>
          </a:p>
          <a:p>
            <a:pPr algn="ctr"/>
            <a:r>
              <a:rPr lang="en-US" sz="1600" b="1" dirty="0">
                <a:solidFill>
                  <a:schemeClr val="bg1">
                    <a:lumMod val="85000"/>
                  </a:schemeClr>
                </a:solidFill>
                <a:latin typeface="Book Antiqua" panose="02040602050305030304" pitchFamily="18" charset="0"/>
              </a:rPr>
              <a:t>Access payment pages</a:t>
            </a:r>
          </a:p>
          <a:p>
            <a:pPr algn="ctr"/>
            <a:r>
              <a:rPr lang="en-US" sz="1600" b="1" dirty="0">
                <a:solidFill>
                  <a:schemeClr val="bg1">
                    <a:lumMod val="85000"/>
                  </a:schemeClr>
                </a:solidFill>
                <a:latin typeface="Book Antiqua" panose="02040602050305030304" pitchFamily="18" charset="0"/>
              </a:rPr>
              <a:t>Protected pages redirect unauthorized users to the login page.</a:t>
            </a:r>
          </a:p>
          <a:p>
            <a:pPr algn="ctr"/>
            <a:r>
              <a:rPr lang="en-US" sz="1600" b="1" dirty="0">
                <a:solidFill>
                  <a:schemeClr val="bg1">
                    <a:lumMod val="85000"/>
                  </a:schemeClr>
                </a:solidFill>
                <a:latin typeface="Book Antiqua" panose="02040602050305030304" pitchFamily="18" charset="0"/>
              </a:rPr>
              <a:t>Authorization ensures each user has access only to allowed features.</a:t>
            </a:r>
          </a:p>
        </p:txBody>
      </p:sp>
      <p:sp>
        <p:nvSpPr>
          <p:cNvPr id="24" name="Oval 23">
            <a:extLst>
              <a:ext uri="{FF2B5EF4-FFF2-40B4-BE49-F238E27FC236}">
                <a16:creationId xmlns:a16="http://schemas.microsoft.com/office/drawing/2014/main" id="{B67FB737-ACF3-8950-6AEA-D11C1AC123D2}"/>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244742FA-956E-6711-C9E9-50BE9233A408}"/>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615CAF04-CA70-5F86-AD45-0AA9D85898B8}"/>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8364601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alpha val="62072"/>
          </a:schemeClr>
        </a:solidFill>
        <a:effectLst/>
      </p:bgPr>
    </p:bg>
    <p:spTree>
      <p:nvGrpSpPr>
        <p:cNvPr id="1" name="">
          <a:extLst>
            <a:ext uri="{FF2B5EF4-FFF2-40B4-BE49-F238E27FC236}">
              <a16:creationId xmlns:a16="http://schemas.microsoft.com/office/drawing/2014/main" id="{AF18584B-BB45-25CC-B5E4-608AFCA4B6DA}"/>
            </a:ext>
          </a:extLst>
        </p:cNvPr>
        <p:cNvGrpSpPr/>
        <p:nvPr/>
      </p:nvGrpSpPr>
      <p:grpSpPr>
        <a:xfrm>
          <a:off x="0" y="0"/>
          <a:ext cx="0" cy="0"/>
          <a:chOff x="0" y="0"/>
          <a:chExt cx="0" cy="0"/>
        </a:xfrm>
      </p:grpSpPr>
      <p:pic>
        <p:nvPicPr>
          <p:cNvPr id="3" name="Picture 2" descr="This may contain: two candles are lit in the middle of a room with egyptian paintings on the walls">
            <a:extLst>
              <a:ext uri="{FF2B5EF4-FFF2-40B4-BE49-F238E27FC236}">
                <a16:creationId xmlns:a16="http://schemas.microsoft.com/office/drawing/2014/main" id="{9180F914-4F83-1335-60EF-772FDA5A1ED0}"/>
              </a:ext>
            </a:extLst>
          </p:cNvPr>
          <p:cNvPicPr>
            <a:picLocks noChangeAspect="1"/>
          </p:cNvPicPr>
          <p:nvPr/>
        </p:nvPicPr>
        <p:blipFill>
          <a:blip r:embed="rId2">
            <a:alphaModFix/>
          </a:blip>
          <a:stretch>
            <a:fillRect/>
          </a:stretch>
        </p:blipFill>
        <p:spPr>
          <a:xfrm>
            <a:off x="2" y="0"/>
            <a:ext cx="12191998" cy="6857999"/>
          </a:xfrm>
          <a:prstGeom prst="rect">
            <a:avLst/>
          </a:prstGeom>
          <a:effectLst>
            <a:softEdge rad="387882"/>
          </a:effectLst>
        </p:spPr>
      </p:pic>
      <p:sp useBgFill="1">
        <p:nvSpPr>
          <p:cNvPr id="23" name="Rectangle 22">
            <a:extLst>
              <a:ext uri="{FF2B5EF4-FFF2-40B4-BE49-F238E27FC236}">
                <a16:creationId xmlns:a16="http://schemas.microsoft.com/office/drawing/2014/main" id="{FCCC80A8-C6CF-87C7-3739-F2277D3C0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2D260A7-160F-0AB9-9819-F9253B9EF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0E5BAFC-9B70-8C40-4D10-B2EF59F2D6AB}"/>
              </a:ext>
            </a:extLst>
          </p:cNvPr>
          <p:cNvSpPr txBox="1"/>
          <p:nvPr/>
        </p:nvSpPr>
        <p:spPr>
          <a:xfrm>
            <a:off x="3920310" y="744868"/>
            <a:ext cx="4267200" cy="135147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dirty="0">
                <a:solidFill>
                  <a:schemeClr val="bg1">
                    <a:lumMod val="85000"/>
                  </a:schemeClr>
                </a:solidFill>
                <a:latin typeface="Book Antiqua" panose="02040602050305030304" pitchFamily="18" charset="0"/>
                <a:ea typeface="+mj-ea"/>
                <a:cs typeface="+mj-cs"/>
              </a:rPr>
              <a:t>Home Page</a:t>
            </a:r>
            <a:endParaRPr lang="en-US" sz="4400" b="1" kern="1200" dirty="0">
              <a:solidFill>
                <a:schemeClr val="bg1">
                  <a:lumMod val="85000"/>
                </a:schemeClr>
              </a:solidFill>
              <a:latin typeface="Book Antiqua" panose="02040602050305030304" pitchFamily="18" charset="0"/>
              <a:ea typeface="+mj-ea"/>
              <a:cs typeface="+mj-cs"/>
            </a:endParaRPr>
          </a:p>
        </p:txBody>
      </p:sp>
      <p:sp>
        <p:nvSpPr>
          <p:cNvPr id="16" name="TextBox 15">
            <a:extLst>
              <a:ext uri="{FF2B5EF4-FFF2-40B4-BE49-F238E27FC236}">
                <a16:creationId xmlns:a16="http://schemas.microsoft.com/office/drawing/2014/main" id="{FC6F83CF-0C30-6C5A-2E55-BF2B0F4C948D}"/>
              </a:ext>
            </a:extLst>
          </p:cNvPr>
          <p:cNvSpPr txBox="1"/>
          <p:nvPr/>
        </p:nvSpPr>
        <p:spPr>
          <a:xfrm>
            <a:off x="3327902" y="3023149"/>
            <a:ext cx="5452016" cy="3680911"/>
          </a:xfrm>
          <a:prstGeom prst="rect">
            <a:avLst/>
          </a:prstGeom>
        </p:spPr>
        <p:txBody>
          <a:bodyPr vert="horz" lIns="91440" tIns="45720" rIns="91440" bIns="45720" rtlCol="0">
            <a:normAutofit/>
          </a:bodyPr>
          <a:lstStyle/>
          <a:p>
            <a:pPr algn="ctr"/>
            <a:r>
              <a:rPr lang="en-US" sz="2000" b="1" dirty="0">
                <a:solidFill>
                  <a:schemeClr val="bg1">
                    <a:lumMod val="85000"/>
                  </a:schemeClr>
                </a:solidFill>
                <a:latin typeface="Book Antiqua" panose="02040602050305030304" pitchFamily="18" charset="0"/>
              </a:rPr>
              <a:t>The home page acts as the main portal of the platform and includes:</a:t>
            </a:r>
          </a:p>
          <a:p>
            <a:pPr algn="ctr"/>
            <a:r>
              <a:rPr lang="en-US" sz="2000" b="1" dirty="0">
                <a:solidFill>
                  <a:schemeClr val="bg1">
                    <a:lumMod val="85000"/>
                  </a:schemeClr>
                </a:solidFill>
                <a:latin typeface="Book Antiqua" panose="02040602050305030304" pitchFamily="18" charset="0"/>
              </a:rPr>
              <a:t xml:space="preserve">Animated Statistics Counter </a:t>
            </a:r>
          </a:p>
          <a:p>
            <a:pPr algn="ctr"/>
            <a:r>
              <a:rPr lang="en-US" sz="2000" b="1" dirty="0">
                <a:solidFill>
                  <a:schemeClr val="bg1">
                    <a:lumMod val="85000"/>
                  </a:schemeClr>
                </a:solidFill>
                <a:latin typeface="Book Antiqua" panose="02040602050305030304" pitchFamily="18" charset="0"/>
              </a:rPr>
              <a:t xml:space="preserve">Featured Pharaohs </a:t>
            </a:r>
          </a:p>
          <a:p>
            <a:pPr algn="ctr"/>
            <a:r>
              <a:rPr lang="en-US" sz="2000" b="1" dirty="0">
                <a:solidFill>
                  <a:schemeClr val="bg1">
                    <a:lumMod val="85000"/>
                  </a:schemeClr>
                </a:solidFill>
                <a:latin typeface="Book Antiqua" panose="02040602050305030304" pitchFamily="18" charset="0"/>
              </a:rPr>
              <a:t xml:space="preserve">Featured Temples </a:t>
            </a:r>
          </a:p>
          <a:p>
            <a:pPr algn="ctr"/>
            <a:r>
              <a:rPr lang="en-US" sz="2000" b="1" dirty="0">
                <a:solidFill>
                  <a:schemeClr val="bg1">
                    <a:lumMod val="85000"/>
                  </a:schemeClr>
                </a:solidFill>
                <a:latin typeface="Book Antiqua" panose="02040602050305030304" pitchFamily="18" charset="0"/>
              </a:rPr>
              <a:t xml:space="preserve">Featured Museums </a:t>
            </a:r>
          </a:p>
          <a:p>
            <a:pPr algn="ctr"/>
            <a:r>
              <a:rPr lang="en-US" sz="2000" b="1" dirty="0">
                <a:solidFill>
                  <a:schemeClr val="bg1">
                    <a:lumMod val="85000"/>
                  </a:schemeClr>
                </a:solidFill>
                <a:latin typeface="Book Antiqua" panose="02040602050305030304" pitchFamily="18" charset="0"/>
              </a:rPr>
              <a:t xml:space="preserve">Featured Egyptian Gods </a:t>
            </a:r>
          </a:p>
          <a:p>
            <a:pPr algn="ctr"/>
            <a:r>
              <a:rPr lang="en-US" sz="2000" b="1" dirty="0">
                <a:solidFill>
                  <a:schemeClr val="bg1">
                    <a:lumMod val="85000"/>
                  </a:schemeClr>
                </a:solidFill>
                <a:latin typeface="Book Antiqua" panose="02040602050305030304" pitchFamily="18" charset="0"/>
              </a:rPr>
              <a:t xml:space="preserve">Navigation Menu </a:t>
            </a:r>
          </a:p>
          <a:p>
            <a:pPr algn="ctr"/>
            <a:r>
              <a:rPr lang="en-US" sz="2000" b="1" dirty="0">
                <a:solidFill>
                  <a:schemeClr val="bg1">
                    <a:lumMod val="85000"/>
                  </a:schemeClr>
                </a:solidFill>
                <a:latin typeface="Book Antiqua" panose="02040602050305030304" pitchFamily="18" charset="0"/>
              </a:rPr>
              <a:t xml:space="preserve">Responsive Hamburger Menu </a:t>
            </a:r>
          </a:p>
          <a:p>
            <a:pPr algn="ctr"/>
            <a:r>
              <a:rPr lang="en-US" sz="2000" b="1" dirty="0">
                <a:solidFill>
                  <a:schemeClr val="bg1">
                    <a:lumMod val="85000"/>
                  </a:schemeClr>
                </a:solidFill>
                <a:latin typeface="Book Antiqua" panose="02040602050305030304" pitchFamily="18" charset="0"/>
              </a:rPr>
              <a:t>Search across Pharaohs and Temples</a:t>
            </a:r>
          </a:p>
        </p:txBody>
      </p:sp>
      <p:sp>
        <p:nvSpPr>
          <p:cNvPr id="24" name="Oval 23">
            <a:extLst>
              <a:ext uri="{FF2B5EF4-FFF2-40B4-BE49-F238E27FC236}">
                <a16:creationId xmlns:a16="http://schemas.microsoft.com/office/drawing/2014/main" id="{09430190-04CA-8E42-3215-5E2DA5E7624E}"/>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5DB6AD1B-FE31-145C-62CE-F1EE139AD92F}"/>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12249FC6-72A0-04C6-C574-FB2BAF94FF6B}"/>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129830842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alpha val="62072"/>
          </a:schemeClr>
        </a:solidFill>
        <a:effectLst/>
      </p:bgPr>
    </p:bg>
    <p:spTree>
      <p:nvGrpSpPr>
        <p:cNvPr id="1" name="">
          <a:extLst>
            <a:ext uri="{FF2B5EF4-FFF2-40B4-BE49-F238E27FC236}">
              <a16:creationId xmlns:a16="http://schemas.microsoft.com/office/drawing/2014/main" id="{85CE2574-62F3-DD33-E0E0-5C7802F8ECA3}"/>
            </a:ext>
          </a:extLst>
        </p:cNvPr>
        <p:cNvGrpSpPr/>
        <p:nvPr/>
      </p:nvGrpSpPr>
      <p:grpSpPr>
        <a:xfrm>
          <a:off x="0" y="0"/>
          <a:ext cx="0" cy="0"/>
          <a:chOff x="0" y="0"/>
          <a:chExt cx="0" cy="0"/>
        </a:xfrm>
      </p:grpSpPr>
      <p:pic>
        <p:nvPicPr>
          <p:cNvPr id="3" name="Picture 2" descr="This may contain: two candles are lit in the middle of a room with egyptian paintings on the walls">
            <a:extLst>
              <a:ext uri="{FF2B5EF4-FFF2-40B4-BE49-F238E27FC236}">
                <a16:creationId xmlns:a16="http://schemas.microsoft.com/office/drawing/2014/main" id="{A2A957A9-4D3B-2B2A-C417-5A75752B65B0}"/>
              </a:ext>
            </a:extLst>
          </p:cNvPr>
          <p:cNvPicPr>
            <a:picLocks noChangeAspect="1"/>
          </p:cNvPicPr>
          <p:nvPr/>
        </p:nvPicPr>
        <p:blipFill>
          <a:blip r:embed="rId2">
            <a:alphaModFix/>
          </a:blip>
          <a:stretch>
            <a:fillRect/>
          </a:stretch>
        </p:blipFill>
        <p:spPr>
          <a:xfrm>
            <a:off x="2" y="1"/>
            <a:ext cx="12191998" cy="6857999"/>
          </a:xfrm>
          <a:prstGeom prst="rect">
            <a:avLst/>
          </a:prstGeom>
          <a:effectLst>
            <a:softEdge rad="387882"/>
          </a:effectLst>
        </p:spPr>
      </p:pic>
      <p:sp useBgFill="1">
        <p:nvSpPr>
          <p:cNvPr id="23" name="Rectangle 22">
            <a:extLst>
              <a:ext uri="{FF2B5EF4-FFF2-40B4-BE49-F238E27FC236}">
                <a16:creationId xmlns:a16="http://schemas.microsoft.com/office/drawing/2014/main" id="{91C9E8FA-417F-5158-2D97-27A638AD4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B1CC1E1-3684-C5FD-A7FF-DCD70A0B9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0E5411-F745-A209-77E1-B2E2427DC06D}"/>
              </a:ext>
            </a:extLst>
          </p:cNvPr>
          <p:cNvSpPr txBox="1"/>
          <p:nvPr/>
        </p:nvSpPr>
        <p:spPr>
          <a:xfrm>
            <a:off x="3920310" y="744868"/>
            <a:ext cx="4267200" cy="135147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dirty="0">
                <a:solidFill>
                  <a:schemeClr val="bg1">
                    <a:lumMod val="85000"/>
                  </a:schemeClr>
                </a:solidFill>
                <a:latin typeface="Book Antiqua" panose="02040602050305030304" pitchFamily="18" charset="0"/>
              </a:rPr>
              <a:t>Pharaohs Section</a:t>
            </a:r>
            <a:endParaRPr lang="en-US" sz="4400" b="1" kern="1200" dirty="0">
              <a:solidFill>
                <a:schemeClr val="bg1">
                  <a:lumMod val="85000"/>
                </a:schemeClr>
              </a:solidFill>
              <a:latin typeface="Book Antiqua" panose="02040602050305030304" pitchFamily="18" charset="0"/>
              <a:ea typeface="+mj-ea"/>
              <a:cs typeface="+mj-cs"/>
            </a:endParaRPr>
          </a:p>
        </p:txBody>
      </p:sp>
      <p:sp>
        <p:nvSpPr>
          <p:cNvPr id="16" name="TextBox 15">
            <a:extLst>
              <a:ext uri="{FF2B5EF4-FFF2-40B4-BE49-F238E27FC236}">
                <a16:creationId xmlns:a16="http://schemas.microsoft.com/office/drawing/2014/main" id="{BFD9A0D1-FA34-9468-F87B-40CCF45131B5}"/>
              </a:ext>
            </a:extLst>
          </p:cNvPr>
          <p:cNvSpPr txBox="1"/>
          <p:nvPr/>
        </p:nvSpPr>
        <p:spPr>
          <a:xfrm>
            <a:off x="3369988" y="3360199"/>
            <a:ext cx="5452016" cy="2315456"/>
          </a:xfrm>
          <a:prstGeom prst="rect">
            <a:avLst/>
          </a:prstGeom>
        </p:spPr>
        <p:txBody>
          <a:bodyPr vert="horz" lIns="91440" tIns="45720" rIns="91440" bIns="45720" rtlCol="0">
            <a:normAutofit/>
          </a:bodyPr>
          <a:lstStyle/>
          <a:p>
            <a:pPr algn="ctr"/>
            <a:r>
              <a:rPr lang="en-US" sz="2000" b="1" dirty="0">
                <a:solidFill>
                  <a:schemeClr val="bg1">
                    <a:lumMod val="85000"/>
                  </a:schemeClr>
                </a:solidFill>
                <a:latin typeface="Book Antiqua" panose="02040602050305030304" pitchFamily="18" charset="0"/>
              </a:rPr>
              <a:t xml:space="preserve">Browse all pharaohs </a:t>
            </a:r>
          </a:p>
          <a:p>
            <a:pPr algn="ctr"/>
            <a:r>
              <a:rPr lang="en-US" sz="2000" b="1" dirty="0">
                <a:solidFill>
                  <a:schemeClr val="bg1">
                    <a:lumMod val="85000"/>
                  </a:schemeClr>
                </a:solidFill>
                <a:latin typeface="Book Antiqua" panose="02040602050305030304" pitchFamily="18" charset="0"/>
              </a:rPr>
              <a:t xml:space="preserve">View detailed information </a:t>
            </a:r>
          </a:p>
          <a:p>
            <a:pPr algn="ctr"/>
            <a:r>
              <a:rPr lang="en-US" sz="2000" b="1" dirty="0">
                <a:solidFill>
                  <a:schemeClr val="bg1">
                    <a:lumMod val="85000"/>
                  </a:schemeClr>
                </a:solidFill>
                <a:latin typeface="Book Antiqua" panose="02040602050305030304" pitchFamily="18" charset="0"/>
              </a:rPr>
              <a:t xml:space="preserve">Read about dynasties and historical periods </a:t>
            </a:r>
          </a:p>
          <a:p>
            <a:pPr algn="ctr"/>
            <a:r>
              <a:rPr lang="en-US" sz="2000" b="1" dirty="0">
                <a:solidFill>
                  <a:schemeClr val="bg1">
                    <a:lumMod val="85000"/>
                  </a:schemeClr>
                </a:solidFill>
                <a:latin typeface="Book Antiqua" panose="02040602050305030304" pitchFamily="18" charset="0"/>
              </a:rPr>
              <a:t xml:space="preserve">Add pharaohs to favorites </a:t>
            </a:r>
          </a:p>
          <a:p>
            <a:pPr algn="ctr"/>
            <a:endParaRPr lang="en-US" sz="2000" b="1" dirty="0">
              <a:solidFill>
                <a:schemeClr val="bg1">
                  <a:lumMod val="85000"/>
                </a:schemeClr>
              </a:solidFill>
              <a:latin typeface="Book Antiqua" panose="02040602050305030304" pitchFamily="18" charset="0"/>
            </a:endParaRPr>
          </a:p>
          <a:p>
            <a:pPr algn="ctr"/>
            <a:r>
              <a:rPr lang="en-US" sz="2000" b="1" dirty="0">
                <a:solidFill>
                  <a:schemeClr val="bg1">
                    <a:lumMod val="85000"/>
                  </a:schemeClr>
                </a:solidFill>
                <a:latin typeface="Book Antiqua" panose="02040602050305030304" pitchFamily="18" charset="0"/>
              </a:rPr>
              <a:t>The system currently contains:</a:t>
            </a:r>
          </a:p>
          <a:p>
            <a:pPr algn="ctr"/>
            <a:r>
              <a:rPr lang="en-US" sz="2000" b="1" dirty="0">
                <a:solidFill>
                  <a:schemeClr val="bg1">
                    <a:lumMod val="85000"/>
                  </a:schemeClr>
                </a:solidFill>
                <a:latin typeface="Book Antiqua" panose="02040602050305030304" pitchFamily="18" charset="0"/>
              </a:rPr>
              <a:t>20 Pharaohs with images and descriptions</a:t>
            </a:r>
          </a:p>
        </p:txBody>
      </p:sp>
      <p:sp>
        <p:nvSpPr>
          <p:cNvPr id="24" name="Oval 23">
            <a:extLst>
              <a:ext uri="{FF2B5EF4-FFF2-40B4-BE49-F238E27FC236}">
                <a16:creationId xmlns:a16="http://schemas.microsoft.com/office/drawing/2014/main" id="{AC40A889-DB93-437D-08CB-C11E474E4D26}"/>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4388C190-1C4B-AD60-4CE0-D9F03FFD8134}"/>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DA2A2561-66E4-FF1C-B70E-A154EAAD0B05}"/>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36841963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alpha val="62072"/>
          </a:schemeClr>
        </a:solidFill>
        <a:effectLst/>
      </p:bgPr>
    </p:bg>
    <p:spTree>
      <p:nvGrpSpPr>
        <p:cNvPr id="1" name="">
          <a:extLst>
            <a:ext uri="{FF2B5EF4-FFF2-40B4-BE49-F238E27FC236}">
              <a16:creationId xmlns:a16="http://schemas.microsoft.com/office/drawing/2014/main" id="{E2585A39-CBC3-B222-A0DA-AE65151F3F08}"/>
            </a:ext>
          </a:extLst>
        </p:cNvPr>
        <p:cNvGrpSpPr/>
        <p:nvPr/>
      </p:nvGrpSpPr>
      <p:grpSpPr>
        <a:xfrm>
          <a:off x="0" y="0"/>
          <a:ext cx="0" cy="0"/>
          <a:chOff x="0" y="0"/>
          <a:chExt cx="0" cy="0"/>
        </a:xfrm>
      </p:grpSpPr>
      <p:pic>
        <p:nvPicPr>
          <p:cNvPr id="3" name="Picture 2" descr="This may contain: two candles are lit in the middle of a room with egyptian paintings on the walls">
            <a:extLst>
              <a:ext uri="{FF2B5EF4-FFF2-40B4-BE49-F238E27FC236}">
                <a16:creationId xmlns:a16="http://schemas.microsoft.com/office/drawing/2014/main" id="{0753B782-9420-5750-1B7D-167B6B9256A6}"/>
              </a:ext>
            </a:extLst>
          </p:cNvPr>
          <p:cNvPicPr>
            <a:picLocks noChangeAspect="1"/>
          </p:cNvPicPr>
          <p:nvPr/>
        </p:nvPicPr>
        <p:blipFill>
          <a:blip r:embed="rId2">
            <a:alphaModFix/>
          </a:blip>
          <a:stretch>
            <a:fillRect/>
          </a:stretch>
        </p:blipFill>
        <p:spPr>
          <a:xfrm>
            <a:off x="2" y="0"/>
            <a:ext cx="12191998" cy="6857999"/>
          </a:xfrm>
          <a:prstGeom prst="rect">
            <a:avLst/>
          </a:prstGeom>
          <a:effectLst>
            <a:softEdge rad="387882"/>
          </a:effectLst>
        </p:spPr>
      </p:pic>
      <p:sp useBgFill="1">
        <p:nvSpPr>
          <p:cNvPr id="23" name="Rectangle 22">
            <a:extLst>
              <a:ext uri="{FF2B5EF4-FFF2-40B4-BE49-F238E27FC236}">
                <a16:creationId xmlns:a16="http://schemas.microsoft.com/office/drawing/2014/main" id="{61544999-0BF8-8DAB-F70C-CB2D3B0A7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0FC8674-FAB4-CFD3-116C-346E5328D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462049C-9143-B51E-616C-881E33BB5221}"/>
              </a:ext>
            </a:extLst>
          </p:cNvPr>
          <p:cNvSpPr txBox="1"/>
          <p:nvPr/>
        </p:nvSpPr>
        <p:spPr>
          <a:xfrm>
            <a:off x="3920310" y="744868"/>
            <a:ext cx="4267200" cy="135147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dirty="0">
                <a:solidFill>
                  <a:schemeClr val="bg1">
                    <a:lumMod val="85000"/>
                  </a:schemeClr>
                </a:solidFill>
                <a:latin typeface="Book Antiqua" panose="02040602050305030304" pitchFamily="18" charset="0"/>
              </a:rPr>
              <a:t>Egyptian Gods Section</a:t>
            </a:r>
            <a:endParaRPr lang="en-US" sz="4400" b="1" kern="1200" dirty="0">
              <a:solidFill>
                <a:schemeClr val="bg1">
                  <a:lumMod val="85000"/>
                </a:schemeClr>
              </a:solidFill>
              <a:latin typeface="Book Antiqua" panose="02040602050305030304" pitchFamily="18" charset="0"/>
              <a:ea typeface="+mj-ea"/>
              <a:cs typeface="+mj-cs"/>
            </a:endParaRPr>
          </a:p>
        </p:txBody>
      </p:sp>
      <p:sp>
        <p:nvSpPr>
          <p:cNvPr id="16" name="TextBox 15">
            <a:extLst>
              <a:ext uri="{FF2B5EF4-FFF2-40B4-BE49-F238E27FC236}">
                <a16:creationId xmlns:a16="http://schemas.microsoft.com/office/drawing/2014/main" id="{33F1B445-855A-8C19-86F4-A1874D576AC0}"/>
              </a:ext>
            </a:extLst>
          </p:cNvPr>
          <p:cNvSpPr txBox="1"/>
          <p:nvPr/>
        </p:nvSpPr>
        <p:spPr>
          <a:xfrm>
            <a:off x="2410125" y="3037013"/>
            <a:ext cx="7371742" cy="3680911"/>
          </a:xfrm>
          <a:prstGeom prst="rect">
            <a:avLst/>
          </a:prstGeom>
        </p:spPr>
        <p:txBody>
          <a:bodyPr vert="horz" lIns="91440" tIns="45720" rIns="91440" bIns="45720" rtlCol="0">
            <a:normAutofit/>
          </a:bodyPr>
          <a:lstStyle/>
          <a:p>
            <a:pPr algn="ctr"/>
            <a:r>
              <a:rPr lang="en-US" sz="2000" b="1" dirty="0">
                <a:solidFill>
                  <a:schemeClr val="bg1">
                    <a:lumMod val="85000"/>
                  </a:schemeClr>
                </a:solidFill>
                <a:latin typeface="Book Antiqua" panose="02040602050305030304" pitchFamily="18" charset="0"/>
              </a:rPr>
              <a:t>A dedicated section for Ancient Egyptian gods including:</a:t>
            </a:r>
          </a:p>
          <a:p>
            <a:pPr algn="ctr"/>
            <a:r>
              <a:rPr lang="en-US" sz="2000" b="1" dirty="0">
                <a:solidFill>
                  <a:schemeClr val="bg1">
                    <a:lumMod val="85000"/>
                  </a:schemeClr>
                </a:solidFill>
                <a:latin typeface="Book Antiqua" panose="02040602050305030304" pitchFamily="18" charset="0"/>
              </a:rPr>
              <a:t xml:space="preserve">God Name </a:t>
            </a:r>
          </a:p>
          <a:p>
            <a:pPr algn="ctr"/>
            <a:r>
              <a:rPr lang="en-US" sz="2000" b="1" dirty="0">
                <a:solidFill>
                  <a:schemeClr val="bg1">
                    <a:lumMod val="85000"/>
                  </a:schemeClr>
                </a:solidFill>
                <a:latin typeface="Book Antiqua" panose="02040602050305030304" pitchFamily="18" charset="0"/>
              </a:rPr>
              <a:t xml:space="preserve">Role </a:t>
            </a:r>
          </a:p>
          <a:p>
            <a:pPr algn="ctr"/>
            <a:r>
              <a:rPr lang="en-US" sz="2000" b="1" dirty="0">
                <a:solidFill>
                  <a:schemeClr val="bg1">
                    <a:lumMod val="85000"/>
                  </a:schemeClr>
                </a:solidFill>
                <a:latin typeface="Book Antiqua" panose="02040602050305030304" pitchFamily="18" charset="0"/>
              </a:rPr>
              <a:t xml:space="preserve">Symbol </a:t>
            </a:r>
          </a:p>
          <a:p>
            <a:pPr algn="ctr"/>
            <a:r>
              <a:rPr lang="en-US" sz="2000" b="1" dirty="0">
                <a:solidFill>
                  <a:schemeClr val="bg1">
                    <a:lumMod val="85000"/>
                  </a:schemeClr>
                </a:solidFill>
                <a:latin typeface="Book Antiqua" panose="02040602050305030304" pitchFamily="18" charset="0"/>
              </a:rPr>
              <a:t xml:space="preserve">Description </a:t>
            </a:r>
          </a:p>
          <a:p>
            <a:pPr algn="ctr"/>
            <a:r>
              <a:rPr lang="en-US" sz="2000" b="1" dirty="0">
                <a:solidFill>
                  <a:schemeClr val="bg1">
                    <a:lumMod val="85000"/>
                  </a:schemeClr>
                </a:solidFill>
                <a:latin typeface="Book Antiqua" panose="02040602050305030304" pitchFamily="18" charset="0"/>
              </a:rPr>
              <a:t xml:space="preserve">Images </a:t>
            </a:r>
          </a:p>
          <a:p>
            <a:pPr algn="ctr"/>
            <a:r>
              <a:rPr lang="en-US" sz="2000" b="1" dirty="0">
                <a:solidFill>
                  <a:schemeClr val="bg1">
                    <a:lumMod val="85000"/>
                  </a:schemeClr>
                </a:solidFill>
                <a:latin typeface="Book Antiqua" panose="02040602050305030304" pitchFamily="18" charset="0"/>
              </a:rPr>
              <a:t xml:space="preserve">Favorites Support </a:t>
            </a:r>
          </a:p>
          <a:p>
            <a:pPr algn="ctr"/>
            <a:endParaRPr lang="en-US" sz="2000" b="1" dirty="0">
              <a:solidFill>
                <a:schemeClr val="bg1">
                  <a:lumMod val="85000"/>
                </a:schemeClr>
              </a:solidFill>
              <a:latin typeface="Book Antiqua" panose="02040602050305030304" pitchFamily="18" charset="0"/>
            </a:endParaRPr>
          </a:p>
          <a:p>
            <a:pPr algn="ctr"/>
            <a:r>
              <a:rPr lang="en-US" sz="2000" b="1" dirty="0">
                <a:solidFill>
                  <a:schemeClr val="bg1">
                    <a:lumMod val="85000"/>
                  </a:schemeClr>
                </a:solidFill>
                <a:latin typeface="Book Antiqua" panose="02040602050305030304" pitchFamily="18" charset="0"/>
              </a:rPr>
              <a:t>Users can explore detailed pages for each god and save them to favorites.</a:t>
            </a:r>
          </a:p>
        </p:txBody>
      </p:sp>
      <p:sp>
        <p:nvSpPr>
          <p:cNvPr id="24" name="Oval 23">
            <a:extLst>
              <a:ext uri="{FF2B5EF4-FFF2-40B4-BE49-F238E27FC236}">
                <a16:creationId xmlns:a16="http://schemas.microsoft.com/office/drawing/2014/main" id="{1EFF2479-8EC1-8F54-5FC4-307A0E9FB119}"/>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0D69BB72-9A2B-B4C6-CBBF-64D8E713A743}"/>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30D17AA8-9A22-E09F-71BD-3CB7E7E98ABB}"/>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117118331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alpha val="62072"/>
          </a:schemeClr>
        </a:solidFill>
        <a:effectLst/>
      </p:bgPr>
    </p:bg>
    <p:spTree>
      <p:nvGrpSpPr>
        <p:cNvPr id="1" name="">
          <a:extLst>
            <a:ext uri="{FF2B5EF4-FFF2-40B4-BE49-F238E27FC236}">
              <a16:creationId xmlns:a16="http://schemas.microsoft.com/office/drawing/2014/main" id="{34552A38-B92A-8CB5-2C43-903A3A3D7DBF}"/>
            </a:ext>
          </a:extLst>
        </p:cNvPr>
        <p:cNvGrpSpPr/>
        <p:nvPr/>
      </p:nvGrpSpPr>
      <p:grpSpPr>
        <a:xfrm>
          <a:off x="0" y="0"/>
          <a:ext cx="0" cy="0"/>
          <a:chOff x="0" y="0"/>
          <a:chExt cx="0" cy="0"/>
        </a:xfrm>
      </p:grpSpPr>
      <p:pic>
        <p:nvPicPr>
          <p:cNvPr id="3" name="Picture 2" descr="This may contain: two candles are lit in the middle of a room with egyptian paintings on the walls">
            <a:extLst>
              <a:ext uri="{FF2B5EF4-FFF2-40B4-BE49-F238E27FC236}">
                <a16:creationId xmlns:a16="http://schemas.microsoft.com/office/drawing/2014/main" id="{F1D669B6-1784-1B82-0136-44E722B0B4B8}"/>
              </a:ext>
            </a:extLst>
          </p:cNvPr>
          <p:cNvPicPr>
            <a:picLocks noChangeAspect="1"/>
          </p:cNvPicPr>
          <p:nvPr/>
        </p:nvPicPr>
        <p:blipFill>
          <a:blip r:embed="rId2">
            <a:alphaModFix/>
          </a:blip>
          <a:stretch>
            <a:fillRect/>
          </a:stretch>
        </p:blipFill>
        <p:spPr>
          <a:xfrm>
            <a:off x="2" y="0"/>
            <a:ext cx="12191998" cy="6857999"/>
          </a:xfrm>
          <a:prstGeom prst="rect">
            <a:avLst/>
          </a:prstGeom>
          <a:effectLst>
            <a:softEdge rad="387882"/>
          </a:effectLst>
        </p:spPr>
      </p:pic>
      <p:sp useBgFill="1">
        <p:nvSpPr>
          <p:cNvPr id="23" name="Rectangle 22">
            <a:extLst>
              <a:ext uri="{FF2B5EF4-FFF2-40B4-BE49-F238E27FC236}">
                <a16:creationId xmlns:a16="http://schemas.microsoft.com/office/drawing/2014/main" id="{693BC022-E3FA-E169-9293-A925C5B77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5A1E073-3FC2-560F-CE0F-6265C2A6CD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F5BB59E-951B-A48B-C4DA-9400BD51A8FD}"/>
              </a:ext>
            </a:extLst>
          </p:cNvPr>
          <p:cNvSpPr txBox="1"/>
          <p:nvPr/>
        </p:nvSpPr>
        <p:spPr>
          <a:xfrm>
            <a:off x="3920310" y="744868"/>
            <a:ext cx="4267200" cy="135147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dirty="0">
                <a:solidFill>
                  <a:schemeClr val="bg1">
                    <a:lumMod val="85000"/>
                  </a:schemeClr>
                </a:solidFill>
                <a:latin typeface="Book Antiqua" panose="02040602050305030304" pitchFamily="18" charset="0"/>
              </a:rPr>
              <a:t>Temples Section</a:t>
            </a:r>
            <a:endParaRPr lang="en-US" sz="4400" b="1" kern="1200" dirty="0">
              <a:solidFill>
                <a:schemeClr val="bg1">
                  <a:lumMod val="85000"/>
                </a:schemeClr>
              </a:solidFill>
              <a:latin typeface="Book Antiqua" panose="02040602050305030304" pitchFamily="18" charset="0"/>
              <a:ea typeface="+mj-ea"/>
              <a:cs typeface="+mj-cs"/>
            </a:endParaRPr>
          </a:p>
        </p:txBody>
      </p:sp>
      <p:sp>
        <p:nvSpPr>
          <p:cNvPr id="16" name="TextBox 15">
            <a:extLst>
              <a:ext uri="{FF2B5EF4-FFF2-40B4-BE49-F238E27FC236}">
                <a16:creationId xmlns:a16="http://schemas.microsoft.com/office/drawing/2014/main" id="{5F7AF672-B7FF-A466-AFA9-F607F16DD0FF}"/>
              </a:ext>
            </a:extLst>
          </p:cNvPr>
          <p:cNvSpPr txBox="1"/>
          <p:nvPr/>
        </p:nvSpPr>
        <p:spPr>
          <a:xfrm>
            <a:off x="3327902" y="3023149"/>
            <a:ext cx="5452016" cy="3680911"/>
          </a:xfrm>
          <a:prstGeom prst="rect">
            <a:avLst/>
          </a:prstGeom>
        </p:spPr>
        <p:txBody>
          <a:bodyPr vert="horz" lIns="91440" tIns="45720" rIns="91440" bIns="45720" rtlCol="0">
            <a:normAutofit/>
          </a:bodyPr>
          <a:lstStyle/>
          <a:p>
            <a:pPr algn="ctr"/>
            <a:r>
              <a:rPr lang="en-US" sz="2000" b="1" dirty="0">
                <a:solidFill>
                  <a:schemeClr val="bg1">
                    <a:lumMod val="85000"/>
                  </a:schemeClr>
                </a:solidFill>
                <a:latin typeface="Book Antiqua" panose="02040602050305030304" pitchFamily="18" charset="0"/>
              </a:rPr>
              <a:t>Users can:</a:t>
            </a:r>
          </a:p>
          <a:p>
            <a:pPr algn="ctr"/>
            <a:r>
              <a:rPr lang="en-US" sz="2000" b="1" dirty="0">
                <a:solidFill>
                  <a:schemeClr val="bg1">
                    <a:lumMod val="85000"/>
                  </a:schemeClr>
                </a:solidFill>
                <a:latin typeface="Book Antiqua" panose="02040602050305030304" pitchFamily="18" charset="0"/>
              </a:rPr>
              <a:t xml:space="preserve">Browse Egyptian temples and historical sites </a:t>
            </a:r>
          </a:p>
          <a:p>
            <a:pPr algn="ctr"/>
            <a:r>
              <a:rPr lang="en-US" sz="2000" b="1" dirty="0">
                <a:solidFill>
                  <a:schemeClr val="bg1">
                    <a:lumMod val="85000"/>
                  </a:schemeClr>
                </a:solidFill>
                <a:latin typeface="Book Antiqua" panose="02040602050305030304" pitchFamily="18" charset="0"/>
              </a:rPr>
              <a:t xml:space="preserve">Read historical descriptions </a:t>
            </a:r>
          </a:p>
          <a:p>
            <a:pPr algn="ctr"/>
            <a:r>
              <a:rPr lang="en-US" sz="2000" b="1" dirty="0">
                <a:solidFill>
                  <a:schemeClr val="bg1">
                    <a:lumMod val="85000"/>
                  </a:schemeClr>
                </a:solidFill>
                <a:latin typeface="Book Antiqua" panose="02040602050305030304" pitchFamily="18" charset="0"/>
              </a:rPr>
              <a:t xml:space="preserve">View images and locations </a:t>
            </a:r>
          </a:p>
          <a:p>
            <a:pPr algn="ctr"/>
            <a:r>
              <a:rPr lang="en-US" sz="2000" b="1" dirty="0">
                <a:solidFill>
                  <a:schemeClr val="bg1">
                    <a:lumMod val="85000"/>
                  </a:schemeClr>
                </a:solidFill>
                <a:latin typeface="Book Antiqua" panose="02040602050305030304" pitchFamily="18" charset="0"/>
              </a:rPr>
              <a:t xml:space="preserve">Book visits directly </a:t>
            </a:r>
          </a:p>
          <a:p>
            <a:pPr algn="ctr"/>
            <a:r>
              <a:rPr lang="en-US" sz="2000" b="1" dirty="0">
                <a:solidFill>
                  <a:schemeClr val="bg1">
                    <a:lumMod val="85000"/>
                  </a:schemeClr>
                </a:solidFill>
                <a:latin typeface="Book Antiqua" panose="02040602050305030304" pitchFamily="18" charset="0"/>
              </a:rPr>
              <a:t xml:space="preserve">Add temples to favorites </a:t>
            </a:r>
          </a:p>
          <a:p>
            <a:pPr algn="ctr"/>
            <a:endParaRPr lang="en-US" sz="2000" b="1" dirty="0">
              <a:solidFill>
                <a:schemeClr val="bg1">
                  <a:lumMod val="85000"/>
                </a:schemeClr>
              </a:solidFill>
              <a:latin typeface="Book Antiqua" panose="02040602050305030304" pitchFamily="18" charset="0"/>
            </a:endParaRPr>
          </a:p>
          <a:p>
            <a:pPr algn="ctr"/>
            <a:r>
              <a:rPr lang="en-US" sz="2000" b="1" dirty="0">
                <a:solidFill>
                  <a:schemeClr val="bg1">
                    <a:lumMod val="85000"/>
                  </a:schemeClr>
                </a:solidFill>
                <a:latin typeface="Book Antiqua" panose="02040602050305030304" pitchFamily="18" charset="0"/>
              </a:rPr>
              <a:t>The system currently includes:</a:t>
            </a:r>
          </a:p>
          <a:p>
            <a:pPr algn="ctr"/>
            <a:r>
              <a:rPr lang="en-US" sz="2000" b="1" dirty="0">
                <a:solidFill>
                  <a:schemeClr val="bg1">
                    <a:lumMod val="85000"/>
                  </a:schemeClr>
                </a:solidFill>
                <a:latin typeface="Book Antiqua" panose="02040602050305030304" pitchFamily="18" charset="0"/>
              </a:rPr>
              <a:t>15 Temples and historical sites</a:t>
            </a:r>
          </a:p>
        </p:txBody>
      </p:sp>
      <p:sp>
        <p:nvSpPr>
          <p:cNvPr id="24" name="Oval 23">
            <a:extLst>
              <a:ext uri="{FF2B5EF4-FFF2-40B4-BE49-F238E27FC236}">
                <a16:creationId xmlns:a16="http://schemas.microsoft.com/office/drawing/2014/main" id="{9455DD2C-0339-58C6-944D-7FC5ED46F99A}"/>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2CA97BDD-9888-DD5A-31CC-637D16F92BDC}"/>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AC6C1089-8F0C-D8B1-44BF-E16D2DDDF96B}"/>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295773316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alpha val="62072"/>
          </a:schemeClr>
        </a:solidFill>
        <a:effectLst/>
      </p:bgPr>
    </p:bg>
    <p:spTree>
      <p:nvGrpSpPr>
        <p:cNvPr id="1" name="">
          <a:extLst>
            <a:ext uri="{FF2B5EF4-FFF2-40B4-BE49-F238E27FC236}">
              <a16:creationId xmlns:a16="http://schemas.microsoft.com/office/drawing/2014/main" id="{7FEC2E7D-743B-B044-AF72-43EB84DE491D}"/>
            </a:ext>
          </a:extLst>
        </p:cNvPr>
        <p:cNvGrpSpPr/>
        <p:nvPr/>
      </p:nvGrpSpPr>
      <p:grpSpPr>
        <a:xfrm>
          <a:off x="0" y="0"/>
          <a:ext cx="0" cy="0"/>
          <a:chOff x="0" y="0"/>
          <a:chExt cx="0" cy="0"/>
        </a:xfrm>
      </p:grpSpPr>
      <p:pic>
        <p:nvPicPr>
          <p:cNvPr id="3" name="Picture 2" descr="This may contain: two candles are lit in the middle of a room with egyptian paintings on the walls">
            <a:extLst>
              <a:ext uri="{FF2B5EF4-FFF2-40B4-BE49-F238E27FC236}">
                <a16:creationId xmlns:a16="http://schemas.microsoft.com/office/drawing/2014/main" id="{D7974FC3-EBC1-1201-FDC1-8517296F0ED2}"/>
              </a:ext>
            </a:extLst>
          </p:cNvPr>
          <p:cNvPicPr>
            <a:picLocks noChangeAspect="1"/>
          </p:cNvPicPr>
          <p:nvPr/>
        </p:nvPicPr>
        <p:blipFill>
          <a:blip r:embed="rId2">
            <a:alphaModFix/>
          </a:blip>
          <a:stretch>
            <a:fillRect/>
          </a:stretch>
        </p:blipFill>
        <p:spPr>
          <a:xfrm>
            <a:off x="2" y="0"/>
            <a:ext cx="12191998" cy="6857999"/>
          </a:xfrm>
          <a:prstGeom prst="rect">
            <a:avLst/>
          </a:prstGeom>
          <a:effectLst>
            <a:softEdge rad="387882"/>
          </a:effectLst>
        </p:spPr>
      </p:pic>
      <p:sp useBgFill="1">
        <p:nvSpPr>
          <p:cNvPr id="23" name="Rectangle 22">
            <a:extLst>
              <a:ext uri="{FF2B5EF4-FFF2-40B4-BE49-F238E27FC236}">
                <a16:creationId xmlns:a16="http://schemas.microsoft.com/office/drawing/2014/main" id="{A7CE6CB1-2AC3-0489-4B72-2B0CD2C0C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95F4E0F-16A2-D4C5-BAB5-66B2569E8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E6721D3-2820-0428-7C9F-2528850F1E86}"/>
              </a:ext>
            </a:extLst>
          </p:cNvPr>
          <p:cNvSpPr txBox="1"/>
          <p:nvPr/>
        </p:nvSpPr>
        <p:spPr>
          <a:xfrm>
            <a:off x="3920310" y="744868"/>
            <a:ext cx="4267200" cy="135147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b="1" dirty="0">
                <a:solidFill>
                  <a:schemeClr val="bg1">
                    <a:lumMod val="85000"/>
                  </a:schemeClr>
                </a:solidFill>
                <a:latin typeface="Book Antiqua" panose="02040602050305030304" pitchFamily="18" charset="0"/>
              </a:rPr>
              <a:t>Museums</a:t>
            </a:r>
            <a:r>
              <a:rPr lang="en-US" sz="4400" b="1" dirty="0">
                <a:latin typeface="Book Antiqua" panose="02040602050305030304" pitchFamily="18" charset="0"/>
              </a:rPr>
              <a:t xml:space="preserve"> </a:t>
            </a:r>
            <a:r>
              <a:rPr lang="en-US" sz="4400" b="1" dirty="0">
                <a:solidFill>
                  <a:schemeClr val="bg1">
                    <a:lumMod val="85000"/>
                  </a:schemeClr>
                </a:solidFill>
                <a:latin typeface="Book Antiqua" panose="02040602050305030304" pitchFamily="18" charset="0"/>
              </a:rPr>
              <a:t>Section</a:t>
            </a:r>
            <a:endParaRPr lang="en-US" sz="4400" b="1" kern="1200" dirty="0">
              <a:solidFill>
                <a:schemeClr val="bg1">
                  <a:lumMod val="85000"/>
                </a:schemeClr>
              </a:solidFill>
              <a:latin typeface="Book Antiqua" panose="02040602050305030304" pitchFamily="18" charset="0"/>
              <a:ea typeface="+mj-ea"/>
              <a:cs typeface="+mj-cs"/>
            </a:endParaRPr>
          </a:p>
        </p:txBody>
      </p:sp>
      <p:sp>
        <p:nvSpPr>
          <p:cNvPr id="16" name="TextBox 15">
            <a:extLst>
              <a:ext uri="{FF2B5EF4-FFF2-40B4-BE49-F238E27FC236}">
                <a16:creationId xmlns:a16="http://schemas.microsoft.com/office/drawing/2014/main" id="{6DECBBE0-72A2-1AA3-8110-99D3E7637A12}"/>
              </a:ext>
            </a:extLst>
          </p:cNvPr>
          <p:cNvSpPr txBox="1"/>
          <p:nvPr/>
        </p:nvSpPr>
        <p:spPr>
          <a:xfrm>
            <a:off x="3215379" y="3037013"/>
            <a:ext cx="5761234" cy="3680911"/>
          </a:xfrm>
          <a:prstGeom prst="rect">
            <a:avLst/>
          </a:prstGeom>
        </p:spPr>
        <p:txBody>
          <a:bodyPr vert="horz" lIns="91440" tIns="45720" rIns="91440" bIns="45720" rtlCol="0">
            <a:normAutofit/>
          </a:bodyPr>
          <a:lstStyle/>
          <a:p>
            <a:pPr algn="ctr"/>
            <a:r>
              <a:rPr lang="en-US" sz="2000" b="1" dirty="0">
                <a:solidFill>
                  <a:schemeClr val="bg1">
                    <a:lumMod val="85000"/>
                  </a:schemeClr>
                </a:solidFill>
                <a:latin typeface="Book Antiqua" panose="02040602050305030304" pitchFamily="18" charset="0"/>
              </a:rPr>
              <a:t>The museums module includes:</a:t>
            </a:r>
          </a:p>
          <a:p>
            <a:pPr algn="ctr"/>
            <a:r>
              <a:rPr lang="en-US" sz="2000" b="1" dirty="0">
                <a:solidFill>
                  <a:schemeClr val="bg1">
                    <a:lumMod val="85000"/>
                  </a:schemeClr>
                </a:solidFill>
                <a:latin typeface="Book Antiqua" panose="02040602050305030304" pitchFamily="18" charset="0"/>
              </a:rPr>
              <a:t xml:space="preserve">Egyptian museums only </a:t>
            </a:r>
          </a:p>
          <a:p>
            <a:pPr algn="ctr"/>
            <a:r>
              <a:rPr lang="en-US" sz="2000" b="1" dirty="0">
                <a:solidFill>
                  <a:schemeClr val="bg1">
                    <a:lumMod val="85000"/>
                  </a:schemeClr>
                </a:solidFill>
                <a:latin typeface="Book Antiqua" panose="02040602050305030304" pitchFamily="18" charset="0"/>
              </a:rPr>
              <a:t xml:space="preserve">Detailed museum pages </a:t>
            </a:r>
          </a:p>
          <a:p>
            <a:pPr algn="ctr"/>
            <a:r>
              <a:rPr lang="en-US" sz="2000" b="1" dirty="0">
                <a:solidFill>
                  <a:schemeClr val="bg1">
                    <a:lumMod val="85000"/>
                  </a:schemeClr>
                </a:solidFill>
                <a:latin typeface="Book Antiqua" panose="02040602050305030304" pitchFamily="18" charset="0"/>
              </a:rPr>
              <a:t xml:space="preserve">Historical information </a:t>
            </a:r>
          </a:p>
          <a:p>
            <a:pPr algn="ctr"/>
            <a:r>
              <a:rPr lang="en-US" sz="2000" b="1" dirty="0">
                <a:solidFill>
                  <a:schemeClr val="bg1">
                    <a:lumMod val="85000"/>
                  </a:schemeClr>
                </a:solidFill>
                <a:latin typeface="Book Antiqua" panose="02040602050305030304" pitchFamily="18" charset="0"/>
              </a:rPr>
              <a:t xml:space="preserve">Booking support </a:t>
            </a:r>
          </a:p>
          <a:p>
            <a:pPr algn="ctr"/>
            <a:r>
              <a:rPr lang="en-US" sz="2000" b="1" dirty="0">
                <a:solidFill>
                  <a:schemeClr val="bg1">
                    <a:lumMod val="85000"/>
                  </a:schemeClr>
                </a:solidFill>
                <a:latin typeface="Book Antiqua" panose="02040602050305030304" pitchFamily="18" charset="0"/>
              </a:rPr>
              <a:t xml:space="preserve">Favorites system </a:t>
            </a:r>
          </a:p>
          <a:p>
            <a:pPr algn="ctr"/>
            <a:endParaRPr lang="en-US" sz="2000" b="1" dirty="0">
              <a:solidFill>
                <a:schemeClr val="bg1">
                  <a:lumMod val="85000"/>
                </a:schemeClr>
              </a:solidFill>
              <a:latin typeface="Book Antiqua" panose="02040602050305030304" pitchFamily="18" charset="0"/>
            </a:endParaRPr>
          </a:p>
          <a:p>
            <a:pPr algn="ctr"/>
            <a:r>
              <a:rPr lang="en-US" sz="2000" b="1" dirty="0">
                <a:solidFill>
                  <a:schemeClr val="bg1">
                    <a:lumMod val="85000"/>
                  </a:schemeClr>
                </a:solidFill>
                <a:latin typeface="Book Antiqua" panose="02040602050305030304" pitchFamily="18" charset="0"/>
              </a:rPr>
              <a:t>The system currently contains:</a:t>
            </a:r>
          </a:p>
          <a:p>
            <a:pPr algn="ctr"/>
            <a:r>
              <a:rPr lang="en-US" sz="2000" b="1" dirty="0">
                <a:solidFill>
                  <a:schemeClr val="bg1">
                    <a:lumMod val="85000"/>
                  </a:schemeClr>
                </a:solidFill>
                <a:latin typeface="Book Antiqua" panose="02040602050305030304" pitchFamily="18" charset="0"/>
              </a:rPr>
              <a:t>10 Egyptian museums</a:t>
            </a:r>
          </a:p>
        </p:txBody>
      </p:sp>
      <p:sp>
        <p:nvSpPr>
          <p:cNvPr id="24" name="Oval 23">
            <a:extLst>
              <a:ext uri="{FF2B5EF4-FFF2-40B4-BE49-F238E27FC236}">
                <a16:creationId xmlns:a16="http://schemas.microsoft.com/office/drawing/2014/main" id="{CF09FFE4-8535-B882-F4D0-E9C3A76D28D6}"/>
              </a:ext>
            </a:extLst>
          </p:cNvPr>
          <p:cNvSpPr/>
          <p:nvPr/>
        </p:nvSpPr>
        <p:spPr>
          <a:xfrm>
            <a:off x="5911512" y="2270836"/>
            <a:ext cx="368968" cy="348991"/>
          </a:xfrm>
          <a:prstGeom prst="ellipse">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EG"/>
          </a:p>
        </p:txBody>
      </p:sp>
      <p:cxnSp>
        <p:nvCxnSpPr>
          <p:cNvPr id="27" name="Straight Connector 26">
            <a:extLst>
              <a:ext uri="{FF2B5EF4-FFF2-40B4-BE49-F238E27FC236}">
                <a16:creationId xmlns:a16="http://schemas.microsoft.com/office/drawing/2014/main" id="{E7ADE7D6-9AF1-BB08-A2D9-BE0754704EDB}"/>
              </a:ext>
            </a:extLst>
          </p:cNvPr>
          <p:cNvCxnSpPr>
            <a:cxnSpLocks/>
          </p:cNvCxnSpPr>
          <p:nvPr/>
        </p:nvCxnSpPr>
        <p:spPr>
          <a:xfrm>
            <a:off x="0" y="2438734"/>
            <a:ext cx="12192000" cy="0"/>
          </a:xfrm>
          <a:prstGeom prst="line">
            <a:avLst/>
          </a:prstGeom>
          <a:ln>
            <a:solidFill>
              <a:schemeClr val="accent2">
                <a:lumMod val="50000"/>
                <a:alpha val="31147"/>
              </a:schemeClr>
            </a:solidFill>
          </a:ln>
        </p:spPr>
        <p:style>
          <a:lnRef idx="2">
            <a:schemeClr val="accent2"/>
          </a:lnRef>
          <a:fillRef idx="0">
            <a:schemeClr val="accent2"/>
          </a:fillRef>
          <a:effectRef idx="1">
            <a:schemeClr val="accent2"/>
          </a:effectRef>
          <a:fontRef idx="minor">
            <a:schemeClr val="tx1"/>
          </a:fontRef>
        </p:style>
      </p:cxnSp>
      <p:sp>
        <p:nvSpPr>
          <p:cNvPr id="32" name="TextBox 31">
            <a:extLst>
              <a:ext uri="{FF2B5EF4-FFF2-40B4-BE49-F238E27FC236}">
                <a16:creationId xmlns:a16="http://schemas.microsoft.com/office/drawing/2014/main" id="{9A370334-A37C-34B4-AC93-D17992FDA167}"/>
              </a:ext>
            </a:extLst>
          </p:cNvPr>
          <p:cNvSpPr txBox="1"/>
          <p:nvPr/>
        </p:nvSpPr>
        <p:spPr>
          <a:xfrm>
            <a:off x="10929257" y="805543"/>
            <a:ext cx="184731" cy="369332"/>
          </a:xfrm>
          <a:prstGeom prst="rect">
            <a:avLst/>
          </a:prstGeom>
          <a:noFill/>
        </p:spPr>
        <p:txBody>
          <a:bodyPr wrap="none" rtlCol="0">
            <a:spAutoFit/>
          </a:bodyPr>
          <a:lstStyle/>
          <a:p>
            <a:endParaRPr lang="en-EG" dirty="0"/>
          </a:p>
        </p:txBody>
      </p:sp>
    </p:spTree>
    <p:extLst>
      <p:ext uri="{BB962C8B-B14F-4D97-AF65-F5344CB8AC3E}">
        <p14:creationId xmlns:p14="http://schemas.microsoft.com/office/powerpoint/2010/main" val="374691426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alpha val="87175"/>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559D998-AB6C-46E1-B394-118E9A1E2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may contain: an egyptian scene with two men and one woman in front of a gold wall painting">
            <a:extLst>
              <a:ext uri="{FF2B5EF4-FFF2-40B4-BE49-F238E27FC236}">
                <a16:creationId xmlns:a16="http://schemas.microsoft.com/office/drawing/2014/main" id="{A54F8425-C5BA-69D2-AD27-CF8D67820CB8}"/>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31"/>
                    </a14:imgEffect>
                  </a14:imgLayer>
                </a14:imgProps>
              </a:ext>
            </a:extLst>
          </a:blip>
          <a:srcRect b="5749"/>
          <a:stretch>
            <a:fillRect/>
          </a:stretch>
        </p:blipFill>
        <p:spPr>
          <a:xfrm>
            <a:off x="20" y="1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sp>
        <p:nvSpPr>
          <p:cNvPr id="12" name="TextBox 11">
            <a:extLst>
              <a:ext uri="{FF2B5EF4-FFF2-40B4-BE49-F238E27FC236}">
                <a16:creationId xmlns:a16="http://schemas.microsoft.com/office/drawing/2014/main" id="{F6910DA2-DE42-161F-42B3-0B183FF42BA2}"/>
              </a:ext>
            </a:extLst>
          </p:cNvPr>
          <p:cNvSpPr txBox="1"/>
          <p:nvPr/>
        </p:nvSpPr>
        <p:spPr>
          <a:xfrm>
            <a:off x="100723" y="1138500"/>
            <a:ext cx="6099048" cy="646331"/>
          </a:xfrm>
          <a:prstGeom prst="rect">
            <a:avLst/>
          </a:prstGeom>
          <a:noFill/>
        </p:spPr>
        <p:txBody>
          <a:bodyPr wrap="square">
            <a:spAutoFit/>
          </a:bodyPr>
          <a:lstStyle/>
          <a:p>
            <a:pPr algn="ctr"/>
            <a:r>
              <a:rPr lang="en-US" sz="3600" b="1" dirty="0">
                <a:solidFill>
                  <a:schemeClr val="bg1">
                    <a:lumMod val="95000"/>
                  </a:schemeClr>
                </a:solidFill>
                <a:latin typeface="Felix Titling" pitchFamily="82" charset="77"/>
              </a:rPr>
              <a:t>Timeline Feature</a:t>
            </a:r>
            <a:endParaRPr lang="en-EG" sz="3600" b="1" dirty="0">
              <a:solidFill>
                <a:schemeClr val="bg1">
                  <a:lumMod val="95000"/>
                </a:schemeClr>
              </a:solidFill>
              <a:latin typeface="Felix Titling" pitchFamily="82" charset="77"/>
            </a:endParaRPr>
          </a:p>
        </p:txBody>
      </p:sp>
      <p:cxnSp>
        <p:nvCxnSpPr>
          <p:cNvPr id="14" name="Straight Connector 13">
            <a:extLst>
              <a:ext uri="{FF2B5EF4-FFF2-40B4-BE49-F238E27FC236}">
                <a16:creationId xmlns:a16="http://schemas.microsoft.com/office/drawing/2014/main" id="{6EFBB1B2-1D5C-81C7-961D-44CD1D921336}"/>
              </a:ext>
            </a:extLst>
          </p:cNvPr>
          <p:cNvCxnSpPr>
            <a:cxnSpLocks/>
          </p:cNvCxnSpPr>
          <p:nvPr/>
        </p:nvCxnSpPr>
        <p:spPr>
          <a:xfrm>
            <a:off x="0" y="1784831"/>
            <a:ext cx="7770876" cy="0"/>
          </a:xfrm>
          <a:prstGeom prst="line">
            <a:avLst/>
          </a:prstGeom>
          <a:ln>
            <a:solidFill>
              <a:schemeClr val="accent2">
                <a:lumMod val="75000"/>
                <a:alpha val="62000"/>
              </a:schemeClr>
            </a:solidFill>
          </a:ln>
        </p:spPr>
        <p:style>
          <a:lnRef idx="2">
            <a:schemeClr val="accent2"/>
          </a:lnRef>
          <a:fillRef idx="0">
            <a:schemeClr val="accent2"/>
          </a:fillRef>
          <a:effectRef idx="1">
            <a:schemeClr val="accent2"/>
          </a:effectRef>
          <a:fontRef idx="minor">
            <a:schemeClr val="tx1"/>
          </a:fontRef>
        </p:style>
      </p:cxnSp>
      <p:sp>
        <p:nvSpPr>
          <p:cNvPr id="99" name="TextOverlay"/>
          <p:cNvSpPr>
            <a:spLocks noGrp="1"/>
          </p:cNvSpPr>
          <p:nvPr/>
        </p:nvSpPr>
        <p:spPr>
          <a:xfrm>
            <a:off x="1400000" y="1850000"/>
            <a:ext cx="6500000" cy="2500000"/>
          </a:xfrm>
          <a:prstGeom prst="rect">
            <a:avLst/>
          </a:prstGeom>
          <a:solidFill>
            <a:srgbClr val="000000">
              <a:alpha val="55000"/>
            </a:srgbClr>
          </a:solidFill>
          <a:ln>
            <a:noFill/>
          </a:ln>
        </p:spPr>
        <p:txBody>
          <a:bodyPr/>
          <a:lstStyle/>
          <a:p>
            <a:endParaRPr lang="en-US"/>
          </a:p>
        </p:txBody>
      </p:sp>
      <p:sp>
        <p:nvSpPr>
          <p:cNvPr id="17" name="TextBox 16">
            <a:extLst>
              <a:ext uri="{FF2B5EF4-FFF2-40B4-BE49-F238E27FC236}">
                <a16:creationId xmlns:a16="http://schemas.microsoft.com/office/drawing/2014/main" id="{85619D65-8BB4-12D0-AC38-C42C29731C38}"/>
              </a:ext>
            </a:extLst>
          </p:cNvPr>
          <p:cNvSpPr txBox="1"/>
          <p:nvPr/>
        </p:nvSpPr>
        <p:spPr>
          <a:xfrm>
            <a:off x="1525524" y="1914667"/>
            <a:ext cx="6245352" cy="2308324"/>
          </a:xfrm>
          <a:prstGeom prst="rect">
            <a:avLst/>
          </a:prstGeom>
          <a:noFill/>
        </p:spPr>
        <p:txBody>
          <a:bodyPr wrap="square">
            <a:spAutoFit/>
          </a:bodyPr>
          <a:lstStyle/>
          <a:p>
            <a:pPr>
              <a:buNone/>
            </a:pPr>
            <a:r>
              <a:rPr lang="en-US" dirty="0">
                <a:solidFill>
                  <a:schemeClr val="bg1"/>
                </a:solidFill>
                <a:latin typeface="Book Antiqua" panose="02040602050305030304" pitchFamily="18" charset="0"/>
                <a:cs typeface="Katari" pitchFamily="2" charset="0"/>
              </a:rPr>
              <a:t>The application includes an interactive historical timeline displaying:</a:t>
            </a:r>
          </a:p>
          <a:p>
            <a:pPr>
              <a:buFont typeface="Arial" panose="020B0604020202020204" pitchFamily="34" charset="0"/>
              <a:buChar char="•"/>
            </a:pPr>
            <a:r>
              <a:rPr lang="en-US" dirty="0">
                <a:solidFill>
                  <a:schemeClr val="bg1"/>
                </a:solidFill>
                <a:latin typeface="Book Antiqua" panose="02040602050305030304" pitchFamily="18" charset="0"/>
                <a:cs typeface="Katari" pitchFamily="2" charset="0"/>
              </a:rPr>
              <a:t xml:space="preserve">Pharaohs ordered by dynasty </a:t>
            </a:r>
          </a:p>
          <a:p>
            <a:pPr>
              <a:buFont typeface="Arial" panose="020B0604020202020204" pitchFamily="34" charset="0"/>
              <a:buChar char="•"/>
            </a:pPr>
            <a:r>
              <a:rPr lang="en-US" dirty="0">
                <a:solidFill>
                  <a:schemeClr val="bg1"/>
                </a:solidFill>
                <a:latin typeface="Book Antiqua" panose="02040602050305030304" pitchFamily="18" charset="0"/>
                <a:cs typeface="Katari" pitchFamily="2" charset="0"/>
              </a:rPr>
              <a:t>Vertical golden timeline design</a:t>
            </a:r>
          </a:p>
          <a:p>
            <a:pPr>
              <a:buFont typeface="Arial" panose="020B0604020202020204" pitchFamily="34" charset="0"/>
              <a:buChar char="•"/>
            </a:pPr>
            <a:endParaRPr lang="en-US" dirty="0">
              <a:solidFill>
                <a:schemeClr val="bg1"/>
              </a:solidFill>
              <a:latin typeface="Book Antiqua" panose="02040602050305030304" pitchFamily="18" charset="0"/>
              <a:cs typeface="Katari" pitchFamily="2" charset="0"/>
            </a:endParaRPr>
          </a:p>
          <a:p>
            <a:pPr>
              <a:buFont typeface="Arial" panose="020B0604020202020204" pitchFamily="34" charset="0"/>
              <a:buChar char="•"/>
            </a:pPr>
            <a:r>
              <a:rPr lang="en-US" dirty="0">
                <a:solidFill>
                  <a:schemeClr val="bg1"/>
                </a:solidFill>
                <a:latin typeface="Book Antiqua" panose="02040602050305030304" pitchFamily="18" charset="0"/>
                <a:cs typeface="Katari" pitchFamily="2" charset="0"/>
              </a:rPr>
              <a:t>This feature visually presents Ancient Egyptian history in chronological order.</a:t>
            </a:r>
          </a:p>
          <a:p>
            <a:endParaRPr lang="en-US" dirty="0">
              <a:solidFill>
                <a:schemeClr val="bg1"/>
              </a:solidFill>
              <a:latin typeface="Book Antiqua" panose="02040602050305030304" pitchFamily="18" charset="0"/>
              <a:cs typeface="Katari" pitchFamily="2" charset="0"/>
            </a:endParaRPr>
          </a:p>
        </p:txBody>
      </p:sp>
    </p:spTree>
    <p:extLst>
      <p:ext uri="{BB962C8B-B14F-4D97-AF65-F5344CB8AC3E}">
        <p14:creationId xmlns:p14="http://schemas.microsoft.com/office/powerpoint/2010/main" val="218864198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alpha val="87175"/>
          </a:schemeClr>
        </a:solidFill>
        <a:effectLst/>
      </p:bgPr>
    </p:bg>
    <p:spTree>
      <p:nvGrpSpPr>
        <p:cNvPr id="1" name="">
          <a:extLst>
            <a:ext uri="{FF2B5EF4-FFF2-40B4-BE49-F238E27FC236}">
              <a16:creationId xmlns:a16="http://schemas.microsoft.com/office/drawing/2014/main" id="{5909C645-2BBD-9120-A35B-3137B5912D69}"/>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3486C01B-58DC-16E4-A352-9FB5214C0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may contain: an egyptian scene with two men and one woman in front of a gold wall painting">
            <a:extLst>
              <a:ext uri="{FF2B5EF4-FFF2-40B4-BE49-F238E27FC236}">
                <a16:creationId xmlns:a16="http://schemas.microsoft.com/office/drawing/2014/main" id="{BFF87748-CA87-A89C-C8AA-8F70A4583F89}"/>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31"/>
                    </a14:imgEffect>
                  </a14:imgLayer>
                </a14:imgProps>
              </a:ext>
            </a:extLst>
          </a:blip>
          <a:srcRect b="5749"/>
          <a:stretch>
            <a:fillRect/>
          </a:stretch>
        </p:blipFill>
        <p:spPr>
          <a:xfrm>
            <a:off x="20" y="1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sp>
        <p:nvSpPr>
          <p:cNvPr id="12" name="TextBox 11">
            <a:extLst>
              <a:ext uri="{FF2B5EF4-FFF2-40B4-BE49-F238E27FC236}">
                <a16:creationId xmlns:a16="http://schemas.microsoft.com/office/drawing/2014/main" id="{D49A40DC-5059-F331-54B1-903F9A87C781}"/>
              </a:ext>
            </a:extLst>
          </p:cNvPr>
          <p:cNvSpPr txBox="1"/>
          <p:nvPr/>
        </p:nvSpPr>
        <p:spPr>
          <a:xfrm>
            <a:off x="988319" y="1120335"/>
            <a:ext cx="6099048" cy="646331"/>
          </a:xfrm>
          <a:prstGeom prst="rect">
            <a:avLst/>
          </a:prstGeom>
          <a:noFill/>
        </p:spPr>
        <p:txBody>
          <a:bodyPr wrap="square">
            <a:spAutoFit/>
          </a:bodyPr>
          <a:lstStyle/>
          <a:p>
            <a:pPr>
              <a:buNone/>
            </a:pPr>
            <a:r>
              <a:rPr lang="en-US" sz="3600" b="1" dirty="0">
                <a:solidFill>
                  <a:schemeClr val="bg1"/>
                </a:solidFill>
                <a:latin typeface="Felix Titling" pitchFamily="82" charset="77"/>
              </a:rPr>
              <a:t>Favorites System</a:t>
            </a:r>
          </a:p>
        </p:txBody>
      </p:sp>
      <p:cxnSp>
        <p:nvCxnSpPr>
          <p:cNvPr id="14" name="Straight Connector 13">
            <a:extLst>
              <a:ext uri="{FF2B5EF4-FFF2-40B4-BE49-F238E27FC236}">
                <a16:creationId xmlns:a16="http://schemas.microsoft.com/office/drawing/2014/main" id="{717B39F0-662F-AD41-65F3-E22B9F70AEEF}"/>
              </a:ext>
            </a:extLst>
          </p:cNvPr>
          <p:cNvCxnSpPr>
            <a:cxnSpLocks/>
          </p:cNvCxnSpPr>
          <p:nvPr/>
        </p:nvCxnSpPr>
        <p:spPr>
          <a:xfrm>
            <a:off x="0" y="1784831"/>
            <a:ext cx="7770876" cy="0"/>
          </a:xfrm>
          <a:prstGeom prst="line">
            <a:avLst/>
          </a:prstGeom>
          <a:ln>
            <a:solidFill>
              <a:schemeClr val="accent2">
                <a:lumMod val="75000"/>
                <a:alpha val="62000"/>
              </a:schemeClr>
            </a:solidFill>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E72BB10E-1C87-536B-4621-35C35D20A943}"/>
              </a:ext>
            </a:extLst>
          </p:cNvPr>
          <p:cNvSpPr txBox="1"/>
          <p:nvPr/>
        </p:nvSpPr>
        <p:spPr>
          <a:xfrm>
            <a:off x="1482438" y="2044346"/>
            <a:ext cx="7188985" cy="3693319"/>
          </a:xfrm>
          <a:prstGeom prst="rect">
            <a:avLst/>
          </a:prstGeom>
          <a:noFill/>
        </p:spPr>
        <p:txBody>
          <a:bodyPr wrap="square">
            <a:spAutoFit/>
          </a:bodyPr>
          <a:lstStyle/>
          <a:p>
            <a:pPr>
              <a:buNone/>
            </a:pPr>
            <a:r>
              <a:rPr lang="en-US" dirty="0">
                <a:solidFill>
                  <a:schemeClr val="bg1"/>
                </a:solidFill>
                <a:latin typeface="Book Antiqua" panose="02040602050305030304" pitchFamily="18" charset="0"/>
              </a:rPr>
              <a:t>Logged-in users can save items to favorites including:</a:t>
            </a:r>
          </a:p>
          <a:p>
            <a:pPr lvl="1">
              <a:buFont typeface="Arial" panose="020B0604020202020204" pitchFamily="34" charset="0"/>
              <a:buChar char="•"/>
            </a:pPr>
            <a:r>
              <a:rPr lang="en-US" dirty="0">
                <a:solidFill>
                  <a:schemeClr val="bg1"/>
                </a:solidFill>
                <a:latin typeface="Book Antiqua" panose="02040602050305030304" pitchFamily="18" charset="0"/>
              </a:rPr>
              <a:t xml:space="preserve">Pharaohs </a:t>
            </a:r>
          </a:p>
          <a:p>
            <a:pPr lvl="1">
              <a:buFont typeface="Arial" panose="020B0604020202020204" pitchFamily="34" charset="0"/>
              <a:buChar char="•"/>
            </a:pPr>
            <a:r>
              <a:rPr lang="en-US" dirty="0">
                <a:solidFill>
                  <a:schemeClr val="bg1"/>
                </a:solidFill>
                <a:latin typeface="Book Antiqua" panose="02040602050305030304" pitchFamily="18" charset="0"/>
              </a:rPr>
              <a:t xml:space="preserve">Temples </a:t>
            </a:r>
          </a:p>
          <a:p>
            <a:pPr lvl="1">
              <a:buFont typeface="Arial" panose="020B0604020202020204" pitchFamily="34" charset="0"/>
              <a:buChar char="•"/>
            </a:pPr>
            <a:r>
              <a:rPr lang="en-US" dirty="0">
                <a:solidFill>
                  <a:schemeClr val="bg1"/>
                </a:solidFill>
                <a:latin typeface="Book Antiqua" panose="02040602050305030304" pitchFamily="18" charset="0"/>
              </a:rPr>
              <a:t xml:space="preserve">Museums </a:t>
            </a:r>
          </a:p>
          <a:p>
            <a:pPr lvl="1">
              <a:buFont typeface="Arial" panose="020B0604020202020204" pitchFamily="34" charset="0"/>
              <a:buChar char="•"/>
            </a:pPr>
            <a:r>
              <a:rPr lang="en-US" dirty="0">
                <a:solidFill>
                  <a:schemeClr val="bg1"/>
                </a:solidFill>
                <a:latin typeface="Book Antiqua" panose="02040602050305030304" pitchFamily="18" charset="0"/>
              </a:rPr>
              <a:t xml:space="preserve">Gods </a:t>
            </a:r>
          </a:p>
          <a:p>
            <a:endParaRPr lang="en-US" dirty="0">
              <a:solidFill>
                <a:schemeClr val="bg1"/>
              </a:solidFill>
              <a:latin typeface="Book Antiqua" panose="02040602050305030304" pitchFamily="18" charset="0"/>
            </a:endParaRPr>
          </a:p>
          <a:p>
            <a:r>
              <a:rPr lang="en-US" dirty="0">
                <a:solidFill>
                  <a:schemeClr val="bg1"/>
                </a:solidFill>
                <a:latin typeface="Book Antiqua" panose="02040602050305030304" pitchFamily="18" charset="0"/>
              </a:rPr>
              <a:t>Feature</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Add to favorites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Remove from favorites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Favorites dashboard section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Dynamic favorite status checking</a:t>
            </a:r>
          </a:p>
          <a:p>
            <a:endParaRPr lang="en-US" dirty="0"/>
          </a:p>
          <a:p>
            <a:endParaRPr lang="en-US" dirty="0"/>
          </a:p>
        </p:txBody>
      </p:sp>
    </p:spTree>
    <p:extLst>
      <p:ext uri="{BB962C8B-B14F-4D97-AF65-F5344CB8AC3E}">
        <p14:creationId xmlns:p14="http://schemas.microsoft.com/office/powerpoint/2010/main" val="254448735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alpha val="87175"/>
          </a:schemeClr>
        </a:solidFill>
        <a:effectLst/>
      </p:bgPr>
    </p:bg>
    <p:spTree>
      <p:nvGrpSpPr>
        <p:cNvPr id="1" name="">
          <a:extLst>
            <a:ext uri="{FF2B5EF4-FFF2-40B4-BE49-F238E27FC236}">
              <a16:creationId xmlns:a16="http://schemas.microsoft.com/office/drawing/2014/main" id="{8D5957F4-02F7-E145-2122-C570D444B833}"/>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A59153-800D-E0C3-B95C-FA5F074A2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may contain: an egyptian scene with two men and one woman in front of a gold wall painting">
            <a:extLst>
              <a:ext uri="{FF2B5EF4-FFF2-40B4-BE49-F238E27FC236}">
                <a16:creationId xmlns:a16="http://schemas.microsoft.com/office/drawing/2014/main" id="{722D128B-DA3F-3FF7-1528-9F4962E43595}"/>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31"/>
                    </a14:imgEffect>
                  </a14:imgLayer>
                </a14:imgProps>
              </a:ext>
            </a:extLst>
          </a:blip>
          <a:srcRect b="5749"/>
          <a:stretch>
            <a:fillRect/>
          </a:stretch>
        </p:blipFill>
        <p:spPr>
          <a:xfrm>
            <a:off x="20" y="1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sp>
        <p:nvSpPr>
          <p:cNvPr id="12" name="TextBox 11">
            <a:extLst>
              <a:ext uri="{FF2B5EF4-FFF2-40B4-BE49-F238E27FC236}">
                <a16:creationId xmlns:a16="http://schemas.microsoft.com/office/drawing/2014/main" id="{0DBF6F74-9FC6-4379-AB58-51E3630F0242}"/>
              </a:ext>
            </a:extLst>
          </p:cNvPr>
          <p:cNvSpPr txBox="1"/>
          <p:nvPr/>
        </p:nvSpPr>
        <p:spPr>
          <a:xfrm>
            <a:off x="100723" y="1138500"/>
            <a:ext cx="6099048" cy="646331"/>
          </a:xfrm>
          <a:prstGeom prst="rect">
            <a:avLst/>
          </a:prstGeom>
          <a:noFill/>
        </p:spPr>
        <p:txBody>
          <a:bodyPr wrap="square">
            <a:spAutoFit/>
          </a:bodyPr>
          <a:lstStyle/>
          <a:p>
            <a:pPr algn="ctr">
              <a:buNone/>
            </a:pPr>
            <a:r>
              <a:rPr lang="en-US" sz="3600" b="1" dirty="0">
                <a:solidFill>
                  <a:schemeClr val="bg1"/>
                </a:solidFill>
                <a:latin typeface="Felix Titling" pitchFamily="82" charset="77"/>
              </a:rPr>
              <a:t>Booking System</a:t>
            </a:r>
          </a:p>
        </p:txBody>
      </p:sp>
      <p:cxnSp>
        <p:nvCxnSpPr>
          <p:cNvPr id="14" name="Straight Connector 13">
            <a:extLst>
              <a:ext uri="{FF2B5EF4-FFF2-40B4-BE49-F238E27FC236}">
                <a16:creationId xmlns:a16="http://schemas.microsoft.com/office/drawing/2014/main" id="{0A1BC55F-0593-008D-384D-87E94C0923A9}"/>
              </a:ext>
            </a:extLst>
          </p:cNvPr>
          <p:cNvCxnSpPr>
            <a:cxnSpLocks/>
          </p:cNvCxnSpPr>
          <p:nvPr/>
        </p:nvCxnSpPr>
        <p:spPr>
          <a:xfrm>
            <a:off x="0" y="1784831"/>
            <a:ext cx="7770876" cy="0"/>
          </a:xfrm>
          <a:prstGeom prst="line">
            <a:avLst/>
          </a:prstGeom>
          <a:ln>
            <a:solidFill>
              <a:schemeClr val="accent2">
                <a:lumMod val="75000"/>
                <a:alpha val="62000"/>
              </a:schemeClr>
            </a:solidFill>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F6FC0BF2-02D4-9232-8997-6E92C4CA94C0}"/>
              </a:ext>
            </a:extLst>
          </p:cNvPr>
          <p:cNvSpPr txBox="1"/>
          <p:nvPr/>
        </p:nvSpPr>
        <p:spPr>
          <a:xfrm>
            <a:off x="1525524" y="1914667"/>
            <a:ext cx="9710512" cy="4801314"/>
          </a:xfrm>
          <a:prstGeom prst="rect">
            <a:avLst/>
          </a:prstGeom>
          <a:noFill/>
        </p:spPr>
        <p:txBody>
          <a:bodyPr wrap="square">
            <a:spAutoFit/>
          </a:bodyPr>
          <a:lstStyle/>
          <a:p>
            <a:pPr>
              <a:buNone/>
            </a:pPr>
            <a:r>
              <a:rPr lang="en-US" dirty="0">
                <a:solidFill>
                  <a:schemeClr val="bg1"/>
                </a:solidFill>
                <a:latin typeface="Book Antiqua" panose="02040602050305030304" pitchFamily="18" charset="0"/>
              </a:rPr>
              <a:t>The platform contains a fully integrated booking system where users can:</a:t>
            </a:r>
          </a:p>
          <a:p>
            <a:pPr lvl="1">
              <a:buFont typeface="Arial" panose="020B0604020202020204" pitchFamily="34" charset="0"/>
              <a:buChar char="•"/>
            </a:pPr>
            <a:r>
              <a:rPr lang="en-US" dirty="0">
                <a:solidFill>
                  <a:schemeClr val="bg1"/>
                </a:solidFill>
                <a:latin typeface="Book Antiqua" panose="02040602050305030304" pitchFamily="18" charset="0"/>
              </a:rPr>
              <a:t xml:space="preserve">Book temple visits </a:t>
            </a:r>
          </a:p>
          <a:p>
            <a:pPr lvl="1">
              <a:buFont typeface="Arial" panose="020B0604020202020204" pitchFamily="34" charset="0"/>
              <a:buChar char="•"/>
            </a:pPr>
            <a:r>
              <a:rPr lang="en-US" dirty="0">
                <a:solidFill>
                  <a:schemeClr val="bg1"/>
                </a:solidFill>
                <a:latin typeface="Book Antiqua" panose="02040602050305030304" pitchFamily="18" charset="0"/>
              </a:rPr>
              <a:t xml:space="preserve">Book museum visits </a:t>
            </a:r>
          </a:p>
          <a:p>
            <a:pPr lvl="1">
              <a:buFont typeface="Arial" panose="020B0604020202020204" pitchFamily="34" charset="0"/>
              <a:buChar char="•"/>
            </a:pPr>
            <a:r>
              <a:rPr lang="en-US" dirty="0">
                <a:solidFill>
                  <a:schemeClr val="bg1"/>
                </a:solidFill>
                <a:latin typeface="Book Antiqua" panose="02040602050305030304" pitchFamily="18" charset="0"/>
              </a:rPr>
              <a:t xml:space="preserve">Choose visit date </a:t>
            </a:r>
          </a:p>
          <a:p>
            <a:pPr lvl="1">
              <a:buFont typeface="Arial" panose="020B0604020202020204" pitchFamily="34" charset="0"/>
              <a:buChar char="•"/>
            </a:pPr>
            <a:r>
              <a:rPr lang="en-US" dirty="0">
                <a:solidFill>
                  <a:schemeClr val="bg1"/>
                </a:solidFill>
                <a:latin typeface="Book Antiqua" panose="02040602050305030304" pitchFamily="18" charset="0"/>
              </a:rPr>
              <a:t xml:space="preserve">Select number of tickets </a:t>
            </a:r>
          </a:p>
          <a:p>
            <a:pPr lvl="1">
              <a:buFont typeface="Arial" panose="020B0604020202020204" pitchFamily="34" charset="0"/>
              <a:buChar char="•"/>
            </a:pPr>
            <a:r>
              <a:rPr lang="en-US" dirty="0">
                <a:solidFill>
                  <a:schemeClr val="bg1"/>
                </a:solidFill>
                <a:latin typeface="Book Antiqua" panose="02040602050305030304" pitchFamily="18" charset="0"/>
              </a:rPr>
              <a:t xml:space="preserve">Choose payment method </a:t>
            </a:r>
          </a:p>
          <a:p>
            <a:pPr lvl="1">
              <a:buFont typeface="Arial" panose="020B0604020202020204" pitchFamily="34" charset="0"/>
              <a:buChar char="•"/>
            </a:pPr>
            <a:r>
              <a:rPr lang="en-US" dirty="0">
                <a:solidFill>
                  <a:schemeClr val="bg1"/>
                </a:solidFill>
                <a:latin typeface="Book Antiqua" panose="02040602050305030304" pitchFamily="18" charset="0"/>
              </a:rPr>
              <a:t xml:space="preserve">View booking history </a:t>
            </a:r>
          </a:p>
          <a:p>
            <a:pPr lvl="1">
              <a:buFont typeface="Arial" panose="020B0604020202020204" pitchFamily="34" charset="0"/>
              <a:buChar char="•"/>
            </a:pPr>
            <a:r>
              <a:rPr lang="en-US" dirty="0">
                <a:solidFill>
                  <a:schemeClr val="bg1"/>
                </a:solidFill>
                <a:latin typeface="Book Antiqua" panose="02040602050305030304" pitchFamily="18" charset="0"/>
              </a:rPr>
              <a:t>Cancel bookings</a:t>
            </a:r>
          </a:p>
          <a:p>
            <a:pPr lvl="1">
              <a:buFont typeface="Arial" panose="020B0604020202020204" pitchFamily="34" charset="0"/>
              <a:buChar char="•"/>
            </a:pPr>
            <a:endParaRPr lang="en-US" dirty="0">
              <a:solidFill>
                <a:schemeClr val="bg1"/>
              </a:solidFill>
              <a:latin typeface="Book Antiqua" panose="02040602050305030304" pitchFamily="18" charset="0"/>
            </a:endParaRPr>
          </a:p>
          <a:p>
            <a:r>
              <a:rPr lang="en-US" b="1" dirty="0">
                <a:solidFill>
                  <a:schemeClr val="bg1"/>
                </a:solidFill>
                <a:latin typeface="Book Antiqua" panose="02040602050305030304" pitchFamily="18" charset="0"/>
              </a:rPr>
              <a:t>Additional Features:</a:t>
            </a:r>
          </a:p>
          <a:p>
            <a:pPr>
              <a:buFont typeface="Arial" panose="020B0604020202020204" pitchFamily="34" charset="0"/>
              <a:buChar char="•"/>
            </a:pPr>
            <a:r>
              <a:rPr lang="en-US" dirty="0">
                <a:solidFill>
                  <a:schemeClr val="bg1"/>
                </a:solidFill>
                <a:latin typeface="Book Antiqua" panose="02040602050305030304" pitchFamily="18" charset="0"/>
              </a:rPr>
              <a:t>Automatic booking confirmation + Payment record creation</a:t>
            </a:r>
          </a:p>
          <a:p>
            <a:pPr>
              <a:buFont typeface="Arial" panose="020B0604020202020204" pitchFamily="34" charset="0"/>
              <a:buChar char="•"/>
            </a:pPr>
            <a:r>
              <a:rPr lang="en-US" dirty="0">
                <a:solidFill>
                  <a:schemeClr val="bg1"/>
                </a:solidFill>
                <a:latin typeface="Book Antiqua" panose="02040602050305030304" pitchFamily="18" charset="0"/>
              </a:rPr>
              <a:t xml:space="preserve">Ticket pricing: Temple = 150 EGP | Museum = 100 EGP</a:t>
            </a:r>
          </a:p>
          <a:p>
            <a:pPr>
              <a:buFont typeface="Arial" panose="020B0604020202020204" pitchFamily="34" charset="0"/>
              <a:buChar char="•"/>
            </a:pPr>
            <a:r>
              <a:rPr lang="en-US" dirty="0">
                <a:solidFill>
                  <a:schemeClr val="bg1"/>
                </a:solidFill>
                <a:latin typeface="Book Antiqua" panose="02040602050305030304" pitchFamily="18" charset="0"/>
              </a:rPr>
              <a:t>Booking tracking timeline</a:t>
            </a:r>
          </a:p>
          <a:p>
            <a:pPr>
              <a:buFont typeface="Arial" panose="020B0604020202020204" pitchFamily="34" charset="0"/>
              <a:buChar char="•"/>
            </a:pPr>
            <a:r>
              <a:rPr lang="en-US" dirty="0">
                <a:solidFill>
                  <a:schemeClr val="bg1"/>
                </a:solidFill>
                <a:latin typeface="Book Antiqua" panose="02040602050305030304" pitchFamily="18" charset="0"/>
              </a:rPr>
              <a:t>Countdown timer + 48-hour cancellation and refund system</a:t>
            </a:r>
            <a:endParaRPr lang="en-EG" dirty="0">
              <a:solidFill>
                <a:schemeClr val="bg1"/>
              </a:solidFill>
              <a:latin typeface="Book Antiqua" panose="02040602050305030304" pitchFamily="18" charset="0"/>
            </a:endParaRPr>
          </a:p>
          <a:p>
            <a:br>
              <a:rPr lang="en-US" dirty="0">
                <a:solidFill>
                  <a:schemeClr val="bg1"/>
                </a:solidFill>
                <a:latin typeface="Book Antiqua" panose="02040602050305030304" pitchFamily="18" charset="0"/>
              </a:rPr>
            </a:br>
            <a:endParaRPr lang="en-US" dirty="0">
              <a:solidFill>
                <a:schemeClr val="bg1"/>
              </a:solidFill>
              <a:latin typeface="Book Antiqua" panose="02040602050305030304" pitchFamily="18" charset="0"/>
            </a:endParaRPr>
          </a:p>
        </p:txBody>
      </p:sp>
    </p:spTree>
    <p:extLst>
      <p:ext uri="{BB962C8B-B14F-4D97-AF65-F5344CB8AC3E}">
        <p14:creationId xmlns:p14="http://schemas.microsoft.com/office/powerpoint/2010/main" val="83251634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alpha val="87175"/>
          </a:schemeClr>
        </a:solidFill>
        <a:effectLst/>
      </p:bgPr>
    </p:bg>
    <p:spTree>
      <p:nvGrpSpPr>
        <p:cNvPr id="1" name="">
          <a:extLst>
            <a:ext uri="{FF2B5EF4-FFF2-40B4-BE49-F238E27FC236}">
              <a16:creationId xmlns:a16="http://schemas.microsoft.com/office/drawing/2014/main" id="{35C53D4C-74F4-F8A1-52C5-95B839EB89AA}"/>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C9807E63-BE12-CFEE-A27D-BC4D8D88D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may contain: an egyptian scene with two men and one woman in front of a gold wall painting">
            <a:extLst>
              <a:ext uri="{FF2B5EF4-FFF2-40B4-BE49-F238E27FC236}">
                <a16:creationId xmlns:a16="http://schemas.microsoft.com/office/drawing/2014/main" id="{8C90BB05-30A4-1FBE-A027-21FB8C20AE4D}"/>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31"/>
                    </a14:imgEffect>
                  </a14:imgLayer>
                </a14:imgProps>
              </a:ext>
            </a:extLst>
          </a:blip>
          <a:srcRect b="5749"/>
          <a:stretch>
            <a:fillRect/>
          </a:stretch>
        </p:blipFill>
        <p:spPr>
          <a:xfrm>
            <a:off x="20" y="1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sp>
        <p:nvSpPr>
          <p:cNvPr id="12" name="TextBox 11">
            <a:extLst>
              <a:ext uri="{FF2B5EF4-FFF2-40B4-BE49-F238E27FC236}">
                <a16:creationId xmlns:a16="http://schemas.microsoft.com/office/drawing/2014/main" id="{C14570B3-9B7F-2A47-85BC-18B5E2935935}"/>
              </a:ext>
            </a:extLst>
          </p:cNvPr>
          <p:cNvSpPr txBox="1"/>
          <p:nvPr/>
        </p:nvSpPr>
        <p:spPr>
          <a:xfrm>
            <a:off x="100723" y="1138500"/>
            <a:ext cx="6099048" cy="646331"/>
          </a:xfrm>
          <a:prstGeom prst="rect">
            <a:avLst/>
          </a:prstGeom>
          <a:noFill/>
        </p:spPr>
        <p:txBody>
          <a:bodyPr wrap="square">
            <a:spAutoFit/>
          </a:bodyPr>
          <a:lstStyle/>
          <a:p>
            <a:pPr algn="ctr">
              <a:buNone/>
            </a:pPr>
            <a:r>
              <a:rPr lang="en-US" sz="3600" b="1" dirty="0">
                <a:solidFill>
                  <a:schemeClr val="bg1"/>
                </a:solidFill>
                <a:latin typeface="Felix Titling" pitchFamily="82" charset="77"/>
              </a:rPr>
              <a:t>User Dashboard</a:t>
            </a:r>
          </a:p>
        </p:txBody>
      </p:sp>
      <p:cxnSp>
        <p:nvCxnSpPr>
          <p:cNvPr id="14" name="Straight Connector 13">
            <a:extLst>
              <a:ext uri="{FF2B5EF4-FFF2-40B4-BE49-F238E27FC236}">
                <a16:creationId xmlns:a16="http://schemas.microsoft.com/office/drawing/2014/main" id="{8884BF3D-BBDC-9C4F-ABFF-9B20C5DB19AD}"/>
              </a:ext>
            </a:extLst>
          </p:cNvPr>
          <p:cNvCxnSpPr>
            <a:cxnSpLocks/>
          </p:cNvCxnSpPr>
          <p:nvPr/>
        </p:nvCxnSpPr>
        <p:spPr>
          <a:xfrm>
            <a:off x="0" y="1784831"/>
            <a:ext cx="7770876" cy="0"/>
          </a:xfrm>
          <a:prstGeom prst="line">
            <a:avLst/>
          </a:prstGeom>
          <a:ln>
            <a:solidFill>
              <a:schemeClr val="accent2">
                <a:lumMod val="75000"/>
                <a:alpha val="62000"/>
              </a:schemeClr>
            </a:solidFill>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186A3F2D-DB10-7285-7305-5BF1129EBF8F}"/>
              </a:ext>
            </a:extLst>
          </p:cNvPr>
          <p:cNvSpPr txBox="1"/>
          <p:nvPr/>
        </p:nvSpPr>
        <p:spPr>
          <a:xfrm>
            <a:off x="1677924" y="1951672"/>
            <a:ext cx="6245352" cy="1477328"/>
          </a:xfrm>
          <a:prstGeom prst="rect">
            <a:avLst/>
          </a:prstGeom>
          <a:noFill/>
        </p:spPr>
        <p:txBody>
          <a:bodyPr wrap="square">
            <a:spAutoFit/>
          </a:bodyPr>
          <a:lstStyle/>
          <a:p>
            <a:pPr>
              <a:buNone/>
            </a:pPr>
            <a:r>
              <a:rPr lang="en-US" dirty="0">
                <a:solidFill>
                  <a:schemeClr val="bg1"/>
                </a:solidFill>
                <a:latin typeface="Book Antiqua" panose="02040602050305030304" pitchFamily="18" charset="0"/>
              </a:rPr>
              <a:t>The user dashboard contains 4 main tabs:</a:t>
            </a:r>
          </a:p>
          <a:p>
            <a:pPr>
              <a:buNone/>
            </a:pPr>
            <a:endParaRPr lang="en-US" dirty="0">
              <a:solidFill>
                <a:schemeClr val="bg1"/>
              </a:solidFill>
              <a:latin typeface="Book Antiqua" panose="02040602050305030304" pitchFamily="18" charset="0"/>
            </a:endParaRPr>
          </a:p>
          <a:p>
            <a:pPr>
              <a:buFont typeface="Arial" panose="020B0604020202020204" pitchFamily="34" charset="0"/>
              <a:buChar char="•"/>
            </a:pPr>
            <a:r>
              <a:rPr lang="en-US" b="1" dirty="0">
                <a:solidFill>
                  <a:schemeClr val="bg1"/>
                </a:solidFill>
                <a:latin typeface="Book Antiqua" panose="02040602050305030304" pitchFamily="18" charset="0"/>
              </a:rPr>
              <a:t xml:space="preserve">Overview: </a:t>
            </a:r>
            <a:r>
              <a:rPr lang="en-US" dirty="0">
                <a:solidFill>
                  <a:schemeClr val="bg1"/>
                </a:solidFill>
                <a:latin typeface="Book Antiqua" panose="02040602050305030304" pitchFamily="18" charset="0"/>
              </a:rPr>
              <a:t>Stats cards + last 5 bookings + favorites preview</a:t>
            </a:r>
          </a:p>
          <a:p>
            <a:pPr>
              <a:buFont typeface="Arial" panose="020B0604020202020204" pitchFamily="34" charset="0"/>
              <a:buChar char="•"/>
            </a:pPr>
            <a:r>
              <a:rPr lang="en-US" b="1" dirty="0">
                <a:solidFill>
                  <a:schemeClr val="bg1"/>
                </a:solidFill>
                <a:latin typeface="Book Antiqua" panose="02040602050305030304" pitchFamily="18" charset="0"/>
              </a:rPr>
              <a:t xml:space="preserve">My Bookings: </a:t>
            </a:r>
            <a:r>
              <a:rPr lang="en-US" dirty="0">
                <a:solidFill>
                  <a:schemeClr val="bg1"/>
                </a:solidFill>
                <a:latin typeface="Book Antiqua" panose="02040602050305030304" pitchFamily="18" charset="0"/>
              </a:rPr>
              <a:t>All bookings with filter + cancel button</a:t>
            </a:r>
          </a:p>
          <a:p>
            <a:pPr>
              <a:buFont typeface="Arial" panose="020B0604020202020204" pitchFamily="34" charset="0"/>
              <a:buChar char="•"/>
            </a:pPr>
            <a:r>
              <a:rPr lang="en-US" b="1" dirty="0">
                <a:solidFill>
                  <a:schemeClr val="bg1"/>
                </a:solidFill>
                <a:latin typeface="Book Antiqua" panose="02040602050305030304" pitchFamily="18" charset="0"/>
              </a:rPr>
              <a:t xml:space="preserve">Favorites: </a:t>
            </a:r>
            <a:r>
              <a:rPr lang="en-US" dirty="0">
                <a:solidFill>
                  <a:schemeClr val="bg1"/>
                </a:solidFill>
                <a:latin typeface="Book Antiqua" panose="02040602050305030304" pitchFamily="18" charset="0"/>
              </a:rPr>
              <a:t>Pharaohs, Temples, Gods and Museums with hover effects</a:t>
            </a:r>
          </a:p>
          <a:p>
            <a:pPr>
              <a:buFont typeface="Arial" panose="020B0604020202020204" pitchFamily="34" charset="0"/>
              <a:buChar char="•"/>
            </a:pPr>
            <a:r>
              <a:rPr lang="en-US" b="1" dirty="0">
                <a:solidFill>
                  <a:schemeClr val="bg1"/>
                </a:solidFill>
                <a:latin typeface="Book Antiqua" panose="02040602050305030304" pitchFamily="18" charset="0"/>
              </a:rPr>
              <a:t xml:space="preserve">Profile: </a:t>
            </a:r>
            <a:r>
              <a:rPr lang="en-US" dirty="0">
                <a:solidFill>
                  <a:schemeClr val="bg1"/>
                </a:solidFill>
                <a:latin typeface="Book Antiqua" panose="02040602050305030304" pitchFamily="18" charset="0"/>
              </a:rPr>
              <a:t>Account information + Sign Out</a:t>
            </a:r>
          </a:p>
        </p:txBody>
      </p:sp>
    </p:spTree>
    <p:extLst>
      <p:ext uri="{BB962C8B-B14F-4D97-AF65-F5344CB8AC3E}">
        <p14:creationId xmlns:p14="http://schemas.microsoft.com/office/powerpoint/2010/main" val="424964727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alpha val="87175"/>
          </a:schemeClr>
        </a:solidFill>
        <a:effectLst/>
      </p:bgPr>
    </p:bg>
    <p:spTree>
      <p:nvGrpSpPr>
        <p:cNvPr id="1" name="">
          <a:extLst>
            <a:ext uri="{FF2B5EF4-FFF2-40B4-BE49-F238E27FC236}">
              <a16:creationId xmlns:a16="http://schemas.microsoft.com/office/drawing/2014/main" id="{0AE79BE8-463B-B84C-4304-BDE728D6C65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9AAD891C-DEC9-B1CB-7D4D-5CE48F31E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may contain: an egyptian scene with two men and one woman in front of a gold wall painting">
            <a:extLst>
              <a:ext uri="{FF2B5EF4-FFF2-40B4-BE49-F238E27FC236}">
                <a16:creationId xmlns:a16="http://schemas.microsoft.com/office/drawing/2014/main" id="{FD7D96B1-23A4-1947-EC8F-395218EB0C95}"/>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31"/>
                    </a14:imgEffect>
                  </a14:imgLayer>
                </a14:imgProps>
              </a:ext>
            </a:extLst>
          </a:blip>
          <a:srcRect b="5749"/>
          <a:stretch>
            <a:fillRect/>
          </a:stretch>
        </p:blipFill>
        <p:spPr>
          <a:xfrm>
            <a:off x="20" y="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sp>
        <p:nvSpPr>
          <p:cNvPr id="12" name="TextBox 11">
            <a:extLst>
              <a:ext uri="{FF2B5EF4-FFF2-40B4-BE49-F238E27FC236}">
                <a16:creationId xmlns:a16="http://schemas.microsoft.com/office/drawing/2014/main" id="{30903642-3E2E-E2C5-876A-AC4A2430C188}"/>
              </a:ext>
            </a:extLst>
          </p:cNvPr>
          <p:cNvSpPr txBox="1"/>
          <p:nvPr/>
        </p:nvSpPr>
        <p:spPr>
          <a:xfrm>
            <a:off x="336250" y="1138490"/>
            <a:ext cx="6099048" cy="646331"/>
          </a:xfrm>
          <a:prstGeom prst="rect">
            <a:avLst/>
          </a:prstGeom>
          <a:noFill/>
        </p:spPr>
        <p:txBody>
          <a:bodyPr wrap="square">
            <a:spAutoFit/>
          </a:bodyPr>
          <a:lstStyle/>
          <a:p>
            <a:pPr algn="ctr"/>
            <a:r>
              <a:rPr lang="en-US" sz="3600" b="1" dirty="0">
                <a:solidFill>
                  <a:schemeClr val="bg1"/>
                </a:solidFill>
                <a:latin typeface="Felix Titling" pitchFamily="82" charset="77"/>
              </a:rPr>
              <a:t>Admin Dashboard</a:t>
            </a:r>
            <a:endParaRPr lang="en-EG" sz="3600" b="1" dirty="0">
              <a:solidFill>
                <a:schemeClr val="bg1"/>
              </a:solidFill>
              <a:latin typeface="Felix Titling" pitchFamily="82" charset="77"/>
            </a:endParaRPr>
          </a:p>
        </p:txBody>
      </p:sp>
      <p:cxnSp>
        <p:nvCxnSpPr>
          <p:cNvPr id="14" name="Straight Connector 13">
            <a:extLst>
              <a:ext uri="{FF2B5EF4-FFF2-40B4-BE49-F238E27FC236}">
                <a16:creationId xmlns:a16="http://schemas.microsoft.com/office/drawing/2014/main" id="{4E970F0D-9572-2698-8AB9-C5C7A3BB4763}"/>
              </a:ext>
            </a:extLst>
          </p:cNvPr>
          <p:cNvCxnSpPr>
            <a:cxnSpLocks/>
          </p:cNvCxnSpPr>
          <p:nvPr/>
        </p:nvCxnSpPr>
        <p:spPr>
          <a:xfrm>
            <a:off x="0" y="1784831"/>
            <a:ext cx="7770876" cy="0"/>
          </a:xfrm>
          <a:prstGeom prst="line">
            <a:avLst/>
          </a:prstGeom>
          <a:ln>
            <a:solidFill>
              <a:schemeClr val="accent2">
                <a:lumMod val="75000"/>
                <a:alpha val="62000"/>
              </a:schemeClr>
            </a:solidFill>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7E927E7B-9D04-2F4B-7DE2-2E2C62A5B90C}"/>
              </a:ext>
            </a:extLst>
          </p:cNvPr>
          <p:cNvSpPr txBox="1"/>
          <p:nvPr/>
        </p:nvSpPr>
        <p:spPr>
          <a:xfrm>
            <a:off x="1525524" y="1914667"/>
            <a:ext cx="6245352" cy="3416320"/>
          </a:xfrm>
          <a:prstGeom prst="rect">
            <a:avLst/>
          </a:prstGeom>
          <a:noFill/>
        </p:spPr>
        <p:txBody>
          <a:bodyPr wrap="square">
            <a:spAutoFit/>
          </a:bodyPr>
          <a:lstStyle/>
          <a:p>
            <a:pPr>
              <a:buNone/>
            </a:pPr>
            <a:r>
              <a:rPr lang="en-US" b="1" dirty="0">
                <a:solidFill>
                  <a:schemeClr val="bg1"/>
                </a:solidFill>
                <a:latin typeface="Book Antiqua" panose="02040602050305030304" pitchFamily="18" charset="0"/>
              </a:rPr>
              <a:t>Admin Features</a:t>
            </a:r>
          </a:p>
          <a:p>
            <a:pPr>
              <a:buFont typeface="Arial" panose="020B0604020202020204" pitchFamily="34" charset="0"/>
              <a:buChar char="•"/>
            </a:pPr>
            <a:r>
              <a:rPr lang="en-US" dirty="0">
                <a:solidFill>
                  <a:schemeClr val="bg1"/>
                </a:solidFill>
                <a:latin typeface="Book Antiqua" panose="02040602050305030304" pitchFamily="18" charset="0"/>
              </a:rPr>
              <a:t xml:space="preserve">Dashboard statistics </a:t>
            </a:r>
          </a:p>
          <a:p>
            <a:pPr>
              <a:buFont typeface="Arial" panose="020B0604020202020204" pitchFamily="34" charset="0"/>
              <a:buChar char="•"/>
            </a:pPr>
            <a:r>
              <a:rPr lang="en-US" dirty="0">
                <a:solidFill>
                  <a:schemeClr val="bg1"/>
                </a:solidFill>
                <a:latin typeface="Book Antiqua" panose="02040602050305030304" pitchFamily="18" charset="0"/>
              </a:rPr>
              <a:t xml:space="preserve">Revenue monitoring </a:t>
            </a:r>
          </a:p>
          <a:p>
            <a:pPr>
              <a:buFont typeface="Arial" panose="020B0604020202020204" pitchFamily="34" charset="0"/>
              <a:buChar char="•"/>
            </a:pPr>
            <a:r>
              <a:rPr lang="en-US" dirty="0">
                <a:solidFill>
                  <a:schemeClr val="bg1"/>
                </a:solidFill>
                <a:latin typeface="Book Antiqua" panose="02040602050305030304" pitchFamily="18" charset="0"/>
              </a:rPr>
              <a:t xml:space="preserve">Booking management </a:t>
            </a:r>
          </a:p>
          <a:p>
            <a:pPr>
              <a:buFont typeface="Arial" panose="020B0604020202020204" pitchFamily="34" charset="0"/>
              <a:buChar char="•"/>
            </a:pPr>
            <a:r>
              <a:rPr lang="en-US" dirty="0">
                <a:solidFill>
                  <a:schemeClr val="bg1"/>
                </a:solidFill>
                <a:latin typeface="Book Antiqua" panose="02040602050305030304" pitchFamily="18" charset="0"/>
              </a:rPr>
              <a:t xml:space="preserve">User management </a:t>
            </a:r>
          </a:p>
          <a:p>
            <a:pPr>
              <a:buFont typeface="Arial" panose="020B0604020202020204" pitchFamily="34" charset="0"/>
              <a:buChar char="•"/>
            </a:pPr>
            <a:r>
              <a:rPr lang="en-US" dirty="0">
                <a:solidFill>
                  <a:schemeClr val="bg1"/>
                </a:solidFill>
                <a:latin typeface="Book Antiqua" panose="02040602050305030304" pitchFamily="18" charset="0"/>
              </a:rPr>
              <a:t xml:space="preserve">Full CRUD operations for: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Pharaohs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Temples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Museums </a:t>
            </a:r>
          </a:p>
          <a:p>
            <a:pPr marL="742950" lvl="1" indent="-285750">
              <a:buFont typeface="Arial" panose="020B0604020202020204" pitchFamily="34" charset="0"/>
              <a:buChar char="•"/>
            </a:pPr>
            <a:r>
              <a:rPr lang="en-US" dirty="0">
                <a:solidFill>
                  <a:schemeClr val="bg1"/>
                </a:solidFill>
                <a:latin typeface="Book Antiqua" panose="02040602050305030304" pitchFamily="18" charset="0"/>
              </a:rPr>
              <a:t xml:space="preserve">Gods </a:t>
            </a:r>
          </a:p>
          <a:p>
            <a:pPr>
              <a:buFont typeface="Arial" panose="020B0604020202020204" pitchFamily="34" charset="0"/>
              <a:buChar char="•"/>
            </a:pPr>
            <a:r>
              <a:rPr lang="en-US" dirty="0">
                <a:solidFill>
                  <a:schemeClr val="bg1"/>
                </a:solidFill>
                <a:latin typeface="Book Antiqua" panose="02040602050305030304" pitchFamily="18" charset="0"/>
              </a:rPr>
              <a:t xml:space="preserve">Booking status management </a:t>
            </a:r>
          </a:p>
          <a:p>
            <a:pPr>
              <a:buFont typeface="Arial" panose="020B0604020202020204" pitchFamily="34" charset="0"/>
              <a:buChar char="•"/>
            </a:pPr>
            <a:r>
              <a:rPr lang="en-US" dirty="0">
                <a:solidFill>
                  <a:schemeClr val="bg1"/>
                </a:solidFill>
                <a:latin typeface="Book Antiqua" panose="02040602050305030304" pitchFamily="18" charset="0"/>
              </a:rPr>
              <a:t>Search system inside tables</a:t>
            </a:r>
          </a:p>
        </p:txBody>
      </p:sp>
    </p:spTree>
    <p:extLst>
      <p:ext uri="{BB962C8B-B14F-4D97-AF65-F5344CB8AC3E}">
        <p14:creationId xmlns:p14="http://schemas.microsoft.com/office/powerpoint/2010/main" val="34059906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alpha val="87175"/>
          </a:schemeClr>
        </a:solidFill>
        <a:effectLst/>
      </p:bgPr>
    </p:bg>
    <p:spTree>
      <p:nvGrpSpPr>
        <p:cNvPr id="1" name="">
          <a:extLst>
            <a:ext uri="{FF2B5EF4-FFF2-40B4-BE49-F238E27FC236}">
              <a16:creationId xmlns:a16="http://schemas.microsoft.com/office/drawing/2014/main" id="{416B0412-D9C5-BFD3-3A2B-A23C51DF2611}"/>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0EA7FD6A-F6C3-5E26-93DA-03665F30B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is may contain: an egyptian scene with two men and one woman in front of a gold wall painting">
            <a:extLst>
              <a:ext uri="{FF2B5EF4-FFF2-40B4-BE49-F238E27FC236}">
                <a16:creationId xmlns:a16="http://schemas.microsoft.com/office/drawing/2014/main" id="{C40206CE-903E-A6BA-72B6-80AB87A9B99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631"/>
                    </a14:imgEffect>
                  </a14:imgLayer>
                </a14:imgProps>
              </a:ext>
            </a:extLst>
          </a:blip>
          <a:srcRect b="5749"/>
          <a:stretch>
            <a:fillRect/>
          </a:stretch>
        </p:blipFill>
        <p:spPr>
          <a:xfrm>
            <a:off x="20" y="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p:spPr>
      </p:pic>
      <p:cxnSp>
        <p:nvCxnSpPr>
          <p:cNvPr id="14" name="Straight Connector 13">
            <a:extLst>
              <a:ext uri="{FF2B5EF4-FFF2-40B4-BE49-F238E27FC236}">
                <a16:creationId xmlns:a16="http://schemas.microsoft.com/office/drawing/2014/main" id="{DAB324DB-0E6F-0574-EF7D-E863D8864E28}"/>
              </a:ext>
            </a:extLst>
          </p:cNvPr>
          <p:cNvCxnSpPr>
            <a:cxnSpLocks/>
          </p:cNvCxnSpPr>
          <p:nvPr/>
        </p:nvCxnSpPr>
        <p:spPr>
          <a:xfrm>
            <a:off x="0" y="1784831"/>
            <a:ext cx="7770876" cy="0"/>
          </a:xfrm>
          <a:prstGeom prst="line">
            <a:avLst/>
          </a:prstGeom>
          <a:ln>
            <a:solidFill>
              <a:schemeClr val="accent2">
                <a:lumMod val="75000"/>
                <a:alpha val="62000"/>
              </a:schemeClr>
            </a:solidFill>
          </a:ln>
        </p:spPr>
        <p:style>
          <a:lnRef idx="2">
            <a:schemeClr val="accent2"/>
          </a:lnRef>
          <a:fillRef idx="0">
            <a:schemeClr val="accent2"/>
          </a:fillRef>
          <a:effectRef idx="1">
            <a:schemeClr val="accent2"/>
          </a:effectRef>
          <a:fontRef idx="minor">
            <a:schemeClr val="tx1"/>
          </a:fontRef>
        </p:style>
      </p:cxnSp>
      <p:sp>
        <p:nvSpPr>
          <p:cNvPr id="2" name="TextBox 1">
            <a:extLst>
              <a:ext uri="{FF2B5EF4-FFF2-40B4-BE49-F238E27FC236}">
                <a16:creationId xmlns:a16="http://schemas.microsoft.com/office/drawing/2014/main" id="{A6049607-0FE3-2301-BB4A-0CC12847CA2C}"/>
              </a:ext>
            </a:extLst>
          </p:cNvPr>
          <p:cNvSpPr txBox="1"/>
          <p:nvPr/>
        </p:nvSpPr>
        <p:spPr>
          <a:xfrm>
            <a:off x="2288900" y="2644170"/>
            <a:ext cx="7614200" cy="1569660"/>
          </a:xfrm>
          <a:prstGeom prst="rect">
            <a:avLst/>
          </a:prstGeom>
          <a:noFill/>
        </p:spPr>
        <p:txBody>
          <a:bodyPr wrap="none" rtlCol="0">
            <a:spAutoFit/>
          </a:bodyPr>
          <a:lstStyle/>
          <a:p>
            <a:r>
              <a:rPr lang="en-US" sz="9600" dirty="0">
                <a:solidFill>
                  <a:schemeClr val="bg1">
                    <a:lumMod val="85000"/>
                  </a:schemeClr>
                </a:solidFill>
                <a:latin typeface="Felix Titling" pitchFamily="82" charset="77"/>
              </a:rPr>
              <a:t>thank you</a:t>
            </a:r>
            <a:endParaRPr lang="en-EG" sz="9600" dirty="0">
              <a:solidFill>
                <a:schemeClr val="bg1">
                  <a:lumMod val="85000"/>
                </a:schemeClr>
              </a:solidFill>
              <a:latin typeface="Felix Titling" pitchFamily="82" charset="77"/>
            </a:endParaRPr>
          </a:p>
        </p:txBody>
      </p:sp>
    </p:spTree>
    <p:extLst>
      <p:ext uri="{BB962C8B-B14F-4D97-AF65-F5344CB8AC3E}">
        <p14:creationId xmlns:p14="http://schemas.microsoft.com/office/powerpoint/2010/main" val="125183980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alpha val="84827"/>
          </a:schemeClr>
        </a:solidFill>
        <a:effectLst/>
      </p:bgPr>
    </p:bg>
    <p:spTree>
      <p:nvGrpSpPr>
        <p:cNvPr id="1" name="">
          <a:extLst>
            <a:ext uri="{FF2B5EF4-FFF2-40B4-BE49-F238E27FC236}">
              <a16:creationId xmlns:a16="http://schemas.microsoft.com/office/drawing/2014/main" id="{B7D70C0C-7496-4173-D4E4-F3436D20E6C0}"/>
            </a:ext>
          </a:extLst>
        </p:cNvPr>
        <p:cNvGrpSpPr/>
        <p:nvPr/>
      </p:nvGrpSpPr>
      <p:grpSpPr>
        <a:xfrm>
          <a:off x="0" y="0"/>
          <a:ext cx="0" cy="0"/>
          <a:chOff x="0" y="0"/>
          <a:chExt cx="0" cy="0"/>
        </a:xfrm>
      </p:grpSpPr>
      <p:pic>
        <p:nvPicPr>
          <p:cNvPr id="2" name="Picture 1" descr="This may contain: two pyramids are in front of an egyptian wallpaper with hieroglyic writing">
            <a:extLst>
              <a:ext uri="{FF2B5EF4-FFF2-40B4-BE49-F238E27FC236}">
                <a16:creationId xmlns:a16="http://schemas.microsoft.com/office/drawing/2014/main" id="{F4901A35-62B6-36FE-EC27-3568DC0008EB}"/>
              </a:ext>
            </a:extLst>
          </p:cNvPr>
          <p:cNvPicPr>
            <a:picLocks noChangeAspect="1"/>
          </p:cNvPicPr>
          <p:nvPr/>
        </p:nvPicPr>
        <p:blipFill>
          <a:blip r:embed="rId2">
            <a:alphaModFix amt="71000"/>
          </a:blip>
          <a:srcRect t="25048"/>
          <a:stretch>
            <a:fillRect/>
          </a:stretch>
        </p:blipFill>
        <p:spPr>
          <a:xfrm>
            <a:off x="-67056" y="0"/>
            <a:ext cx="12259056" cy="6895719"/>
          </a:xfrm>
          <a:prstGeom prst="rect">
            <a:avLst/>
          </a:prstGeom>
          <a:effectLst>
            <a:softEdge rad="506015"/>
          </a:effectLst>
        </p:spPr>
      </p:pic>
      <p:sp>
        <p:nvSpPr>
          <p:cNvPr id="6" name="TextBox 5">
            <a:extLst>
              <a:ext uri="{FF2B5EF4-FFF2-40B4-BE49-F238E27FC236}">
                <a16:creationId xmlns:a16="http://schemas.microsoft.com/office/drawing/2014/main" id="{AF1D361B-D2B9-9513-312F-4F477CC752EB}"/>
              </a:ext>
            </a:extLst>
          </p:cNvPr>
          <p:cNvSpPr txBox="1"/>
          <p:nvPr/>
        </p:nvSpPr>
        <p:spPr>
          <a:xfrm>
            <a:off x="1280159" y="1747165"/>
            <a:ext cx="9542515" cy="2308324"/>
          </a:xfrm>
          <a:prstGeom prst="rect">
            <a:avLst/>
          </a:prstGeom>
          <a:noFill/>
        </p:spPr>
        <p:txBody>
          <a:bodyPr wrap="square">
            <a:spAutoFit/>
          </a:bodyPr>
          <a:lstStyle/>
          <a:p>
            <a:r>
              <a:rPr lang="en-US" sz="2400" b="1" dirty="0">
                <a:solidFill>
                  <a:schemeClr val="bg1">
                    <a:lumMod val="85000"/>
                  </a:schemeClr>
                </a:solidFill>
                <a:latin typeface="Book Antiqua" panose="02040602050305030304" pitchFamily="18" charset="0"/>
              </a:rPr>
              <a:t>Tech Stack</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ASP.NET Core MVC (.NET 8)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Entity Framework Core + SQL Server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Session-based Authentication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 xml:space="preserve">C# / Razor Views </a:t>
            </a:r>
          </a:p>
          <a:p>
            <a:pPr lvl="1">
              <a:buFont typeface="Arial" panose="020B0604020202020204" pitchFamily="34" charset="0"/>
              <a:buChar char="•"/>
            </a:pPr>
            <a:r>
              <a:rPr lang="en-US" sz="2400" b="1" dirty="0">
                <a:solidFill>
                  <a:schemeClr val="bg1">
                    <a:lumMod val="85000"/>
                  </a:schemeClr>
                </a:solidFill>
                <a:latin typeface="Book Antiqua" panose="02040602050305030304" pitchFamily="18" charset="0"/>
              </a:rPr>
              <a:t>JavaScript / CSS (Egyptian Dark Gold Theme)</a:t>
            </a:r>
          </a:p>
        </p:txBody>
      </p:sp>
    </p:spTree>
    <p:extLst>
      <p:ext uri="{BB962C8B-B14F-4D97-AF65-F5344CB8AC3E}">
        <p14:creationId xmlns:p14="http://schemas.microsoft.com/office/powerpoint/2010/main" val="1657258628"/>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817</TotalTime>
  <Words>726</Words>
  <Application>Microsoft Macintosh PowerPoint</Application>
  <PresentationFormat>Widescreen</PresentationFormat>
  <Paragraphs>163</Paragraphs>
  <Slides>19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Book Antiqua</vt:lpstr>
      <vt:lpstr>Felix Titling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Mostafa</dc:creator>
  <cp:lastModifiedBy>sara Mostafa</cp:lastModifiedBy>
  <cp:revision>2</cp:revision>
  <dcterms:created xsi:type="dcterms:W3CDTF">2026-05-11T09:38:02Z</dcterms:created>
  <dcterms:modified xsi:type="dcterms:W3CDTF">2026-05-12T22:23:01Z</dcterms:modified>
</cp:coreProperties>
</file>